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6"/>
  </p:notesMasterIdLst>
  <p:handoutMasterIdLst>
    <p:handoutMasterId r:id="rId47"/>
  </p:handoutMasterIdLst>
  <p:sldIdLst>
    <p:sldId id="342" r:id="rId5"/>
    <p:sldId id="359" r:id="rId6"/>
    <p:sldId id="373" r:id="rId7"/>
    <p:sldId id="375" r:id="rId8"/>
    <p:sldId id="390" r:id="rId9"/>
    <p:sldId id="395" r:id="rId10"/>
    <p:sldId id="391" r:id="rId11"/>
    <p:sldId id="365" r:id="rId12"/>
    <p:sldId id="382" r:id="rId13"/>
    <p:sldId id="385" r:id="rId14"/>
    <p:sldId id="386" r:id="rId15"/>
    <p:sldId id="384" r:id="rId16"/>
    <p:sldId id="387" r:id="rId17"/>
    <p:sldId id="388" r:id="rId18"/>
    <p:sldId id="389" r:id="rId19"/>
    <p:sldId id="383" r:id="rId20"/>
    <p:sldId id="409" r:id="rId21"/>
    <p:sldId id="412" r:id="rId22"/>
    <p:sldId id="411" r:id="rId23"/>
    <p:sldId id="410" r:id="rId24"/>
    <p:sldId id="413" r:id="rId25"/>
    <p:sldId id="414" r:id="rId26"/>
    <p:sldId id="415" r:id="rId27"/>
    <p:sldId id="416" r:id="rId28"/>
    <p:sldId id="417" r:id="rId29"/>
    <p:sldId id="418" r:id="rId30"/>
    <p:sldId id="392" r:id="rId31"/>
    <p:sldId id="376" r:id="rId32"/>
    <p:sldId id="400" r:id="rId33"/>
    <p:sldId id="402" r:id="rId34"/>
    <p:sldId id="401" r:id="rId35"/>
    <p:sldId id="394" r:id="rId36"/>
    <p:sldId id="377" r:id="rId37"/>
    <p:sldId id="403" r:id="rId38"/>
    <p:sldId id="404" r:id="rId39"/>
    <p:sldId id="405" r:id="rId40"/>
    <p:sldId id="393" r:id="rId41"/>
    <p:sldId id="406" r:id="rId42"/>
    <p:sldId id="407" r:id="rId43"/>
    <p:sldId id="408" r:id="rId44"/>
    <p:sldId id="372" r:id="rId4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FBFE"/>
    <a:srgbClr val="000000"/>
    <a:srgbClr val="FFFFFF"/>
    <a:srgbClr val="05202E"/>
    <a:srgbClr val="0515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0A1B5D5-9B99-4C35-A422-299274C8766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 showGuides="1">
      <p:cViewPr varScale="1">
        <p:scale>
          <a:sx n="79" d="100"/>
          <a:sy n="79" d="100"/>
        </p:scale>
        <p:origin x="850" y="7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459878-C319-6BF3-52DC-16FA4340A6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FA7FC-DFAE-8499-5A3E-AD9648D7FCA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BFD57-AB0A-470B-A7AF-56DFE7B5174A}" type="datetimeFigureOut">
              <a:rPr lang="en-US" smtClean="0"/>
              <a:t>9/25/2025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9C12BB-9544-9F9A-BEDA-E7168643859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E77E4-B9A2-A882-9240-3AE65EE217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61A1-75D9-49F7-83EB-F587264261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2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3339F-6CEA-4641-BE08-40DAFD6FCF25}" type="datetimeFigureOut">
              <a:rPr lang="en-US" smtClean="0"/>
              <a:t>9/25/2025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F75CB5-5666-5049-9AE0-38EFD385C21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562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9997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2673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164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5224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7D6D0-A900-0A29-B666-934CEA34E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F5C659-D8E4-7530-DE9A-57BC77E544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990AA7-343E-2BE2-5000-C3598CDA67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838421-EC06-5E40-E275-6A5C9EE42A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1524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4D3EE-A207-9380-4324-F5EDA493D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520568-C732-DEF3-C103-60EC356DA2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28CDAA-A4A3-41A6-B2ED-DB923C16C6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D37B08-C0CF-257C-38E7-FD10A1C337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1459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980D8-63EE-4268-4CEF-E9097DA02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1A064F-C30A-C01E-3F6C-7D8971F072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966463-F7B0-D5E9-E95B-926F53B61E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B7D333-D432-2A9A-E203-772EF90FA6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8690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0123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8C2AB-D097-2BEF-E43E-C91837E33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AFAFF7-DD13-6109-C560-C1FED4B183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5BE316-092D-A12F-0808-294D41C9A4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54912A-B86D-7280-6807-963192C973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12248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E9105-6905-ED58-198D-057727147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AA300D-6859-40A9-7ECE-7582B937E4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DDC75D-5BA0-865D-9F91-3FB605DF2A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1B3A96-14F8-4F41-F333-706909B6E3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36680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BE29D-7642-7473-193E-4268B0961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E2113F-98F0-2331-DBD3-2B7A0ABE58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37296D-8D14-60D0-C485-0AB29FE53F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76B1E-07FD-5E27-852B-1A4B28C518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20566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507E7-4AE7-B37C-35E1-AEEB661D7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A730D2-474D-4F9E-4CD8-270EBB4E49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D124B6-6D52-1C0E-894E-8A48B5A9B2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4B278-A2CC-865E-B02A-3B7360C71C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98601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EEAF7-BC9A-C1AC-1CDC-1181B521D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D06EB0-0181-001C-4CB0-A70B5243DE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F29A34-7C20-D909-CC3D-C744193EEA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509CDE-FDA4-C95A-1321-C93F08F6B3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58249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154BE-3263-0D59-F61F-62863617F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B1B1C1-1480-27BD-D7AB-B5A4160FBE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214483-00E3-7140-615D-9E364FBE96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764E05-D747-A8CC-A8C8-5CA6555851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901227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05C41-A1A8-1A49-F174-FAE30FE38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E5416A-DFC1-3D5C-2EBF-D49531031A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07BA42-7A0D-6F66-63D2-FFB0859F62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F59C91-F0E8-428E-A2E9-2111DDC955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30374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8BBE0-06AF-FB5A-F0E8-60349F9E4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ECB430-CB5D-A097-9700-F0905D606C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B63F53-7278-3C97-E50D-19CE71D3AC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F1C3AD-E93A-FD0E-12FC-540A400CC0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66055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98C05-2894-E23A-CD09-94D9A29E2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7C166D-F3CA-B62B-6479-2015481629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4EE687-A032-D719-4D52-67800D6B09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FA52DF-A093-AB4B-AC5B-0452005E36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61244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26560-2504-0158-C628-A7CBAA763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BDE6A4-09E8-F3CF-CBE1-D79E03D2F0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F6B909-A1CA-2DB8-F714-39CD1ADEE2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1E359-F460-2E18-A461-DB93D9D382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08158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B83CB-A418-1F56-3D21-A9C3E731E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33B177-8127-C91D-6303-2ABBD4799A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97A50A-FE9B-074F-7C53-91CDC23AB1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B78BB5-BF13-91F5-7704-7FC70E1080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82402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AD483-12A5-FD7D-80E6-0DC0F20CF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CEA7DD-2DE4-7496-B33E-96FEFDC078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9DE987-A25E-F38D-E974-6272CF447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1DB51-B590-BF5F-E0DE-D3F3DA6905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47947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CA128-1B98-DF6B-31E1-E76407AC8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851212-7339-A0B4-38B1-124767E2CA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BF206D-F41A-14EC-6D4E-AB4CF26866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1D698-3FD6-8364-94AB-9E4ED2693B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05031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385F9-CAD2-55FB-F466-F45463A77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1DD991-FF7B-2AD6-32BD-D131351C1C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07F5A3-B9AC-C418-909B-4B1BA7ED32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06A3D-A781-55E4-AFE5-DF83DB1AF6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72602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50D79-B331-4A33-D7C9-1335A9093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37250E-1AE5-4241-CFA1-149FABB04D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BB076C-CD8E-EBFB-B39A-E220DAB68C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FEBBFA-67B2-90FD-1545-E352297630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101784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DC014-DAED-A7CA-E5FA-31DB49DF1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B7CFA8-20F6-7392-2E32-01E8FEE90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EE394E-13BE-E2D0-F524-6C477C79E1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37C8EA-864A-881C-89D1-D1639BBB68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20364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A91BF-F96B-8754-7A9E-5C192D0A5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BFE473-B15C-8AE6-603E-FB863DB35F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7F1E1B-CA5E-15F7-2C69-2ED5797ADA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12DECD-EFB7-8E70-FC99-6C87A664E2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50783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130C3-018C-720C-6D5F-F137A6A77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2F1AD0-96C2-DF63-6F5F-6D537A7698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ADC938-614E-B42F-4189-E2BA100989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9B159-820D-4E25-E04C-818271543D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EF75CB5-5666-5049-9AE0-38EFD385C21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68538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3B3B5-5DD0-CADA-A3F8-8A4A574F7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0ADC9D-DD99-4BF9-0D1A-245B8A6410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E9FA87-BF09-1145-EF43-9081EEC35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363839-B597-AC4A-8DB4-9CE8B95FCB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55596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02908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9CFD7-4254-0BD7-A747-0C2A410DD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86C051-5FAC-63B4-875A-C2A5986ADA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4F5581-F3F3-9EA6-72DD-A7D09CAC9A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2DF410-DC99-A47F-54F8-A1D7687E38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25384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E9EC4-7F2E-9047-4BCC-417ED623A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D2E21F-E50B-9093-B606-20ACB62CF5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2F1D22-86F1-5810-DDDA-B4564FF1C0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81D9F-0EBB-F2DA-51B2-03CC0B8B14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2285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704D8-5659-23C2-5D43-B54F001EA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D92F32-C3A5-E9E1-B62F-C1FCAEDDB4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A402AC-D38A-0D18-4B5B-75FCF4D8CE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7319C1-55AB-387F-0A17-AC790864F3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41181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785D5-FF45-7763-96B5-C4D64E7DA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E111FA-BD46-B554-7AF5-DA1F599806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5A0A28-B249-E41F-1889-2B1A8B8F6D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E361C1-F48D-3AE0-3283-BA42D67A40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59834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48721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CF62D-0356-DD5A-B058-8ABB5C7E0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BC522A-5459-CD3A-C821-83895304A8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6411B5-710D-D7D8-6D94-ED040F2662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D120B5-D2FC-EDA2-A88C-5B2234F3D5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44602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5F3AB-98FD-1B39-091D-03A0599EC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999876-D468-9A09-5BC0-D2AB6E6BC6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F1D190-A9C3-22C5-2860-8B84D337A9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F9BE11-A96F-1BDC-CAC5-C551D1BA9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03400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046FD-A7E2-6ED8-ADB7-B06A71FB4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FA016A-5B5D-BA5A-2778-CC9AE018B7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4EE88E-451B-E834-EDD4-655C06F5A7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F90629-742C-04A4-C29C-9CF296D174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287241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0E57F-77CB-351C-44E2-09462EA55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E0BE3F-CB14-EF7B-9AF6-31B4BB26A9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94B2A2-0D6B-B041-F19E-70D74FF45E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BFEEF-064A-5C98-2BA5-02FF6038AB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56100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1098B-EE5B-22A7-2FA6-41950468B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48A348-8085-C5A1-7078-CFADA7BF07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190D6B-BC70-5053-6CCE-531B3C4976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73231-E911-876D-3661-73D0A19782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75432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4EED0-2708-9DC3-12DE-6FC6A160E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7F8A86-F961-2AE1-1892-175C5DEC2B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701786-C724-4819-9EF9-87B1A1C36C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7CD799-CCE2-6EC8-31CA-F492E74E96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77619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06E1D-A01B-2EBA-FF1F-AD959D63B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999FE4-B289-FEBF-CB1F-EDE9BAB832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84F188-E5C2-BBBC-F1F5-187EC6C944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E6D5A2-F4A3-FAC9-56BE-76AC7CA8BF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04912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F75CB5-5666-5049-9AE0-38EFD385C21E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890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4799"/>
            <a:ext cx="12191998" cy="3215641"/>
          </a:xfrm>
        </p:spPr>
        <p:txBody>
          <a:bodyPr lIns="0" rIns="0" bIns="0" anchor="b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58B9CAE2-F3DD-D6D3-96C8-D947A41177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" y="3670628"/>
            <a:ext cx="12191997" cy="2577772"/>
          </a:xfrm>
        </p:spPr>
        <p:txBody>
          <a:bodyPr>
            <a:noAutofit/>
          </a:bodyPr>
          <a:lstStyle>
            <a:lvl1pPr marL="0" indent="0" algn="ctr">
              <a:buNone/>
              <a:defRPr sz="3200" b="0" i="0" cap="all" spc="600" baseline="0">
                <a:solidFill>
                  <a:schemeClr val="accent3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41193215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gradFill>
          <a:gsLst>
            <a:gs pos="93000">
              <a:schemeClr val="tx2"/>
            </a:gs>
            <a:gs pos="81000">
              <a:schemeClr val="accent6">
                <a:lumMod val="50000"/>
              </a:schemeClr>
            </a:gs>
            <a:gs pos="27000">
              <a:schemeClr val="tx1"/>
            </a:gs>
            <a:gs pos="8000">
              <a:schemeClr val="accent4">
                <a:lumMod val="75000"/>
              </a:schemeClr>
            </a:gs>
            <a:gs pos="0">
              <a:schemeClr val="accent4"/>
            </a:gs>
            <a:gs pos="99000">
              <a:schemeClr val="tx2">
                <a:lumMod val="40000"/>
                <a:lumOff val="60000"/>
              </a:schemeClr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6450-E291-DC40-F198-C02B485137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" y="1"/>
            <a:ext cx="12192003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462FF1-D97D-8505-FE7F-8B2DB411A8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" y="1821180"/>
            <a:ext cx="12191994" cy="3215641"/>
          </a:xfrm>
        </p:spPr>
        <p:txBody>
          <a:bodyPr lIns="0" rIns="0" bIns="0" anchor="ctr" anchorCtr="0">
            <a:noAutofit/>
          </a:bodyPr>
          <a:lstStyle>
            <a:lvl1pPr algn="ctr">
              <a:defRPr sz="6000" kern="1200" cap="all" spc="3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63504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A084D09-1B2D-4EE2-82A7-83196133B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6350"/>
            <a:ext cx="12185769" cy="6864350"/>
            <a:chOff x="0" y="-6350"/>
            <a:chExt cx="12185769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3860AA6-1B14-DF89-B725-CC444E5020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-6350"/>
              <a:ext cx="6160393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Content Placeholder 14">
              <a:extLst>
                <a:ext uri="{FF2B5EF4-FFF2-40B4-BE49-F238E27FC236}">
                  <a16:creationId xmlns:a16="http://schemas.microsoft.com/office/drawing/2014/main" id="{D172E570-D67F-4980-88C2-CF6560C1C1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750267" y="410125"/>
              <a:ext cx="6845628" cy="6025377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F90BF68-CF26-6705-CBFD-428BEB787EDB}"/>
                </a:ext>
              </a:extLst>
            </p:cNvPr>
            <p:cNvGrpSpPr/>
            <p:nvPr/>
          </p:nvGrpSpPr>
          <p:grpSpPr>
            <a:xfrm rot="10800000">
              <a:off x="5304704" y="259572"/>
              <a:ext cx="584267" cy="390181"/>
              <a:chOff x="1876516" y="596691"/>
              <a:chExt cx="584267" cy="3901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1066F635-8DB9-B091-8467-D8F0327217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876516" y="842493"/>
                <a:ext cx="144379" cy="144379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9" name="Graphic 12">
                <a:extLst>
                  <a:ext uri="{FF2B5EF4-FFF2-40B4-BE49-F238E27FC236}">
                    <a16:creationId xmlns:a16="http://schemas.microsoft.com/office/drawing/2014/main" id="{882D2FD3-A05B-400C-6347-115486FFD9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360199" y="596691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60459F4-C5B9-4070-46D1-2E7DA3EF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 anchor="b"/>
          <a:lstStyle>
            <a:lvl1pPr>
              <a:defRPr sz="3200" cap="all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4F613B1-323C-4C25-4526-1D3313A716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20500"/>
            <a:ext cx="4471665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D2C2143-1936-BBDA-A6A8-40B6DBD16AE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38201" y="3097848"/>
            <a:ext cx="4466504" cy="3405187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090407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12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EB5B81B-FCE8-FE9C-8F0A-6488B25F0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1869" y="579120"/>
            <a:ext cx="11548261" cy="2733306"/>
          </a:xfrm>
        </p:spPr>
        <p:txBody>
          <a:bodyPr anchor="b">
            <a:noAutofit/>
          </a:bodyPr>
          <a:lstStyle>
            <a:lvl1pPr algn="ctr">
              <a:defRPr sz="32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F877C2F-8190-18D9-5D24-5BD7B05A29F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1868" y="3484615"/>
            <a:ext cx="11562303" cy="2387865"/>
          </a:xfrm>
        </p:spPr>
        <p:txBody>
          <a:bodyPr>
            <a:noAutofit/>
          </a:bodyPr>
          <a:lstStyle>
            <a:lvl1pPr marL="0" indent="0" algn="ctr">
              <a:buNone/>
              <a:defRPr sz="60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659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gradFill>
          <a:gsLst>
            <a:gs pos="100000">
              <a:schemeClr val="tx2"/>
            </a:gs>
            <a:gs pos="79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664209F-41AB-70E5-1B9E-7490900C59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" y="1"/>
            <a:ext cx="12191997" cy="6857998"/>
          </a:xfrm>
          <a:prstGeom prst="rect">
            <a:avLst/>
          </a:prstGeom>
          <a:gradFill flip="none" rotWithShape="1">
            <a:gsLst>
              <a:gs pos="0">
                <a:srgbClr val="1A012C"/>
              </a:gs>
              <a:gs pos="45000">
                <a:srgbClr val="1A012C">
                  <a:alpha val="50000"/>
                </a:srgbClr>
              </a:gs>
              <a:gs pos="100000">
                <a:schemeClr val="accent6">
                  <a:lumMod val="50000"/>
                  <a:alpha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2D3409-585B-54E2-1DCC-AC58804E4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6350"/>
            <a:ext cx="6096000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891" y="511762"/>
            <a:ext cx="4960830" cy="2785158"/>
          </a:xfrm>
        </p:spPr>
        <p:txBody>
          <a:bodyPr anchor="b">
            <a:noAutofit/>
          </a:bodyPr>
          <a:lstStyle>
            <a:lvl1pPr algn="l">
              <a:defRPr sz="2400" cap="all" spc="3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47B8A5C-E279-DB0B-E9D3-9274178761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2640" y="3484615"/>
            <a:ext cx="4958081" cy="2387865"/>
          </a:xfrm>
        </p:spPr>
        <p:txBody>
          <a:bodyPr>
            <a:noAutofit/>
          </a:bodyPr>
          <a:lstStyle>
            <a:lvl1pPr marL="0" indent="0" algn="l">
              <a:buNone/>
              <a:defRPr sz="3200" b="0" i="0" cap="all" spc="600" baseline="0">
                <a:solidFill>
                  <a:schemeClr val="accent3">
                    <a:lumMod val="75000"/>
                  </a:schemeClr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86C402-C5C5-2A54-C618-62673AD93CB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97638" y="336550"/>
            <a:ext cx="5322887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218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2 column">
    <p:bg>
      <p:bgPr>
        <a:gradFill>
          <a:gsLst>
            <a:gs pos="100000">
              <a:schemeClr val="tx2"/>
            </a:gs>
            <a:gs pos="79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14">
            <a:extLst>
              <a:ext uri="{FF2B5EF4-FFF2-40B4-BE49-F238E27FC236}">
                <a16:creationId xmlns:a16="http://schemas.microsoft.com/office/drawing/2014/main" id="{318CE367-BBCB-F4AB-635F-4C9995EAE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6350"/>
            <a:ext cx="2356339" cy="685386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CE3FBBA-81E2-31F1-EF51-02706B5B5C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356339" y="-6350"/>
            <a:ext cx="983180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AD3746D-3CD1-FFA5-0019-AD0C588B19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05669" y="2002443"/>
            <a:ext cx="7922116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5669" y="113097"/>
            <a:ext cx="7420819" cy="16563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B9624CF4-7769-4663-3361-39136F5E20C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3305669" y="2470150"/>
            <a:ext cx="7420819" cy="3676649"/>
          </a:xfrm>
        </p:spPr>
        <p:txBody>
          <a:bodyPr/>
          <a:lstStyle>
            <a:lvl1pPr marL="2857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  <a:latin typeface="+mn-lt"/>
              </a:defRPr>
            </a:lvl1pPr>
            <a:lvl2pPr marL="8001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  <a:latin typeface="+mn-lt"/>
              </a:defRPr>
            </a:lvl2pPr>
            <a:lvl3pPr marL="1257300" indent="-3429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  <a:latin typeface="+mn-lt"/>
              </a:defRPr>
            </a:lvl3pPr>
            <a:lvl4pPr marL="16573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4pPr>
            <a:lvl5pPr marL="2114550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026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361F2FA-20C7-5447-C138-CE2CA186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" y="2"/>
            <a:ext cx="12191997" cy="6857998"/>
            <a:chOff x="3" y="2"/>
            <a:chExt cx="12191997" cy="6857998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FEDD626-82E4-71C6-25F1-CDA46B7B3F39}"/>
                </a:ext>
              </a:extLst>
            </p:cNvPr>
            <p:cNvSpPr/>
            <p:nvPr/>
          </p:nvSpPr>
          <p:spPr>
            <a:xfrm>
              <a:off x="3" y="2"/>
              <a:ext cx="12191997" cy="6857998"/>
            </a:xfrm>
            <a:prstGeom prst="rect">
              <a:avLst/>
            </a:prstGeom>
            <a:gradFill flip="none" rotWithShape="1">
              <a:gsLst>
                <a:gs pos="0">
                  <a:srgbClr val="1A012C"/>
                </a:gs>
                <a:gs pos="45000">
                  <a:srgbClr val="1A012C">
                    <a:alpha val="50000"/>
                  </a:srgbClr>
                </a:gs>
                <a:gs pos="100000">
                  <a:schemeClr val="accent6">
                    <a:lumMod val="50000"/>
                    <a:alpha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DC952AF-CE06-54F7-CB4A-1722F90A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" y="2"/>
              <a:ext cx="12191994" cy="6857996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E6EDFF3-843B-AAE9-DB73-423142606F52}"/>
                </a:ext>
              </a:extLst>
            </p:cNvPr>
            <p:cNvGrpSpPr/>
            <p:nvPr/>
          </p:nvGrpSpPr>
          <p:grpSpPr>
            <a:xfrm rot="5400000">
              <a:off x="1645776" y="1222395"/>
              <a:ext cx="431603" cy="412684"/>
              <a:chOff x="1870859" y="869908"/>
              <a:chExt cx="431603" cy="412684"/>
            </a:xfrm>
          </p:grpSpPr>
          <p:sp>
            <p:nvSpPr>
              <p:cNvPr id="12" name="Graphic 15">
                <a:extLst>
                  <a:ext uri="{FF2B5EF4-FFF2-40B4-BE49-F238E27FC236}">
                    <a16:creationId xmlns:a16="http://schemas.microsoft.com/office/drawing/2014/main" id="{312F4F85-6C79-201D-E20D-64CD4728E4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01D71DAD-ECC6-A850-88E4-A4EDCF494A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632CC6D-6024-2368-8EBA-4B7A2D6428BC}"/>
                </a:ext>
              </a:extLst>
            </p:cNvPr>
            <p:cNvGrpSpPr/>
            <p:nvPr/>
          </p:nvGrpSpPr>
          <p:grpSpPr>
            <a:xfrm rot="20626702">
              <a:off x="10248169" y="5448942"/>
              <a:ext cx="431603" cy="412684"/>
              <a:chOff x="1870859" y="869908"/>
              <a:chExt cx="431603" cy="412684"/>
            </a:xfrm>
          </p:grpSpPr>
          <p:sp>
            <p:nvSpPr>
              <p:cNvPr id="6" name="Graphic 15">
                <a:extLst>
                  <a:ext uri="{FF2B5EF4-FFF2-40B4-BE49-F238E27FC236}">
                    <a16:creationId xmlns:a16="http://schemas.microsoft.com/office/drawing/2014/main" id="{B05BE7BE-7D54-A09B-8A67-6B28CF6BB6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7" name="Graphic 12">
                <a:extLst>
                  <a:ext uri="{FF2B5EF4-FFF2-40B4-BE49-F238E27FC236}">
                    <a16:creationId xmlns:a16="http://schemas.microsoft.com/office/drawing/2014/main" id="{258346A9-F75C-6704-EEED-CF7A8A0F8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82CC39D-03B1-4933-F236-462B5862E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448" y="264160"/>
            <a:ext cx="6327105" cy="3373973"/>
          </a:xfrm>
        </p:spPr>
        <p:txBody>
          <a:bodyPr anchor="b"/>
          <a:lstStyle>
            <a:lvl1pPr algn="ctr">
              <a:defRPr sz="3200" cap="all" spc="60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711CA51-49DC-62CA-F147-F286B1C9DB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932448" y="3962135"/>
            <a:ext cx="6327105" cy="2653771"/>
          </a:xfrm>
        </p:spPr>
        <p:txBody>
          <a:bodyPr>
            <a:noAutofit/>
          </a:bodyPr>
          <a:lstStyle>
            <a:lvl1pPr marL="0" indent="0" algn="ctr">
              <a:buNone/>
              <a:defRPr sz="1800" b="0" i="0" cap="all" spc="300" baseline="0">
                <a:solidFill>
                  <a:schemeClr val="bg1"/>
                </a:solidFill>
                <a:latin typeface="+mj-lt"/>
                <a:cs typeface="Biome Light" panose="020B03030302040208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1183414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C7D5518-914C-92E3-E9EC-26752C9F0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" y="-6350"/>
            <a:ext cx="12192000" cy="6864350"/>
            <a:chOff x="-1" y="-6350"/>
            <a:chExt cx="12192000" cy="686435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82D0B82-F74C-65EF-3BF6-8EEA16F36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28750" y="-6350"/>
              <a:ext cx="10763249" cy="6864350"/>
            </a:xfrm>
            <a:prstGeom prst="rect">
              <a:avLst/>
            </a:prstGeom>
            <a:solidFill>
              <a:schemeClr val="tx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6" name="Picture 5" descr="A blue and purple spiral&#10;&#10;Description automatically generated">
              <a:extLst>
                <a:ext uri="{FF2B5EF4-FFF2-40B4-BE49-F238E27FC236}">
                  <a16:creationId xmlns:a16="http://schemas.microsoft.com/office/drawing/2014/main" id="{44E12326-9CF4-38EC-1BAF-1F994F22089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93"/>
            <a:stretch/>
          </p:blipFill>
          <p:spPr>
            <a:xfrm flipH="1">
              <a:off x="-1" y="0"/>
              <a:ext cx="1428751" cy="6858000"/>
            </a:xfrm>
            <a:prstGeom prst="rect">
              <a:avLst/>
            </a:prstGeom>
          </p:spPr>
        </p:pic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5C1D9C-B114-FC6A-9213-7287D39EAD9F}"/>
                </a:ext>
              </a:extLst>
            </p:cNvPr>
            <p:cNvGrpSpPr/>
            <p:nvPr/>
          </p:nvGrpSpPr>
          <p:grpSpPr>
            <a:xfrm>
              <a:off x="10649689" y="4382998"/>
              <a:ext cx="754139" cy="1865729"/>
              <a:chOff x="653351" y="2693558"/>
              <a:chExt cx="754139" cy="1865729"/>
            </a:xfrm>
          </p:grpSpPr>
          <p:sp>
            <p:nvSpPr>
              <p:cNvPr id="11" name="Graphic 15">
                <a:extLst>
                  <a:ext uri="{FF2B5EF4-FFF2-40B4-BE49-F238E27FC236}">
                    <a16:creationId xmlns:a16="http://schemas.microsoft.com/office/drawing/2014/main" id="{2BC89B10-C93E-8CE5-73B3-F6049168C3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098137" y="2693558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2" name="Graphic 12">
                <a:extLst>
                  <a:ext uri="{FF2B5EF4-FFF2-40B4-BE49-F238E27FC236}">
                    <a16:creationId xmlns:a16="http://schemas.microsoft.com/office/drawing/2014/main" id="{39DB2AA2-9661-AC91-932D-2F1BEC47BD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1306906" y="3837599"/>
                <a:ext cx="100584" cy="100584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3" name="Graphic 12">
                <a:extLst>
                  <a:ext uri="{FF2B5EF4-FFF2-40B4-BE49-F238E27FC236}">
                    <a16:creationId xmlns:a16="http://schemas.microsoft.com/office/drawing/2014/main" id="{86C9AC9B-3792-E880-03FE-D46FB046AB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653351" y="4521502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142A133-65D6-D958-C0CD-E8D45B9BD7BB}"/>
                </a:ext>
              </a:extLst>
            </p:cNvPr>
            <p:cNvGrpSpPr/>
            <p:nvPr/>
          </p:nvGrpSpPr>
          <p:grpSpPr>
            <a:xfrm>
              <a:off x="1870859" y="869908"/>
              <a:ext cx="431603" cy="412684"/>
              <a:chOff x="1870859" y="869908"/>
              <a:chExt cx="431603" cy="412684"/>
            </a:xfrm>
          </p:grpSpPr>
          <p:sp>
            <p:nvSpPr>
              <p:cNvPr id="9" name="Graphic 15">
                <a:extLst>
                  <a:ext uri="{FF2B5EF4-FFF2-40B4-BE49-F238E27FC236}">
                    <a16:creationId xmlns:a16="http://schemas.microsoft.com/office/drawing/2014/main" id="{A746B023-387D-4EAC-052B-60F131E6E7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 rot="10800000">
                <a:off x="1870859" y="1154576"/>
                <a:ext cx="128016" cy="128016"/>
              </a:xfrm>
              <a:custGeom>
                <a:avLst/>
                <a:gdLst>
                  <a:gd name="connsiteX0" fmla="*/ 63857 w 127713"/>
                  <a:gd name="connsiteY0" fmla="*/ 18874 h 127713"/>
                  <a:gd name="connsiteX1" fmla="*/ 108839 w 127713"/>
                  <a:gd name="connsiteY1" fmla="*/ 63857 h 127713"/>
                  <a:gd name="connsiteX2" fmla="*/ 63857 w 127713"/>
                  <a:gd name="connsiteY2" fmla="*/ 108839 h 127713"/>
                  <a:gd name="connsiteX3" fmla="*/ 18874 w 127713"/>
                  <a:gd name="connsiteY3" fmla="*/ 63857 h 127713"/>
                  <a:gd name="connsiteX4" fmla="*/ 63857 w 127713"/>
                  <a:gd name="connsiteY4" fmla="*/ 18874 h 127713"/>
                  <a:gd name="connsiteX5" fmla="*/ 63857 w 127713"/>
                  <a:gd name="connsiteY5" fmla="*/ 0 h 127713"/>
                  <a:gd name="connsiteX6" fmla="*/ 0 w 127713"/>
                  <a:gd name="connsiteY6" fmla="*/ 63857 h 127713"/>
                  <a:gd name="connsiteX7" fmla="*/ 63857 w 127713"/>
                  <a:gd name="connsiteY7" fmla="*/ 127713 h 127713"/>
                  <a:gd name="connsiteX8" fmla="*/ 127713 w 127713"/>
                  <a:gd name="connsiteY8" fmla="*/ 63857 h 127713"/>
                  <a:gd name="connsiteX9" fmla="*/ 63857 w 127713"/>
                  <a:gd name="connsiteY9" fmla="*/ 0 h 127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7713" h="127713">
                    <a:moveTo>
                      <a:pt x="63857" y="18874"/>
                    </a:moveTo>
                    <a:cubicBezTo>
                      <a:pt x="88700" y="18874"/>
                      <a:pt x="108839" y="39013"/>
                      <a:pt x="108839" y="63857"/>
                    </a:cubicBezTo>
                    <a:cubicBezTo>
                      <a:pt x="108839" y="88700"/>
                      <a:pt x="88700" y="108839"/>
                      <a:pt x="63857" y="108839"/>
                    </a:cubicBezTo>
                    <a:cubicBezTo>
                      <a:pt x="39013" y="108839"/>
                      <a:pt x="18874" y="88700"/>
                      <a:pt x="18874" y="63857"/>
                    </a:cubicBezTo>
                    <a:cubicBezTo>
                      <a:pt x="18898" y="39023"/>
                      <a:pt x="39023" y="18898"/>
                      <a:pt x="63857" y="18874"/>
                    </a:cubicBezTo>
                    <a:moveTo>
                      <a:pt x="63857" y="0"/>
                    </a:moveTo>
                    <a:cubicBezTo>
                      <a:pt x="28590" y="0"/>
                      <a:pt x="0" y="28590"/>
                      <a:pt x="0" y="63857"/>
                    </a:cubicBezTo>
                    <a:cubicBezTo>
                      <a:pt x="0" y="99124"/>
                      <a:pt x="28590" y="127713"/>
                      <a:pt x="63857" y="127713"/>
                    </a:cubicBezTo>
                    <a:cubicBezTo>
                      <a:pt x="99124" y="127713"/>
                      <a:pt x="127713" y="99124"/>
                      <a:pt x="127713" y="63857"/>
                    </a:cubicBezTo>
                    <a:cubicBezTo>
                      <a:pt x="127713" y="28590"/>
                      <a:pt x="99124" y="0"/>
                      <a:pt x="63857" y="0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610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10" name="Graphic 12">
                <a:extLst>
                  <a:ext uri="{FF2B5EF4-FFF2-40B4-BE49-F238E27FC236}">
                    <a16:creationId xmlns:a16="http://schemas.microsoft.com/office/drawing/2014/main" id="{20760125-21CF-A296-3EA7-3C6C0E9BCB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2256743" y="869908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F851D11-41E3-33F2-CBA6-B2A9A5A2A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369139" y="2002443"/>
            <a:ext cx="88735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9620" y="162560"/>
            <a:ext cx="8843050" cy="1616904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2373002" y="2474811"/>
            <a:ext cx="4015098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1" name="Content Placeholder 4">
            <a:extLst>
              <a:ext uri="{FF2B5EF4-FFF2-40B4-BE49-F238E27FC236}">
                <a16:creationId xmlns:a16="http://schemas.microsoft.com/office/drawing/2014/main" id="{D77F99A7-26FA-422E-43E9-C76B4A56E44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995159" y="2474811"/>
            <a:ext cx="4227332" cy="35283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82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A7247A-846A-F316-B494-69B42CBF3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84B3AF6-983E-0901-0045-6CDF4E93E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3C5B7647-403E-A66E-6CF4-0D3A99AA5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 flipH="1">
            <a:off x="10488530" y="4210019"/>
            <a:ext cx="754139" cy="1865729"/>
            <a:chOff x="653351" y="2693558"/>
            <a:chExt cx="754139" cy="1865729"/>
          </a:xfrm>
        </p:grpSpPr>
        <p:sp>
          <p:nvSpPr>
            <p:cNvPr id="10" name="Graphic 15">
              <a:extLst>
                <a:ext uri="{FF2B5EF4-FFF2-40B4-BE49-F238E27FC236}">
                  <a16:creationId xmlns:a16="http://schemas.microsoft.com/office/drawing/2014/main" id="{E48E731E-FEF1-9C59-64B0-9CB6E88539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98137" y="2693558"/>
              <a:ext cx="128016" cy="128016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610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Graphic 12">
              <a:extLst>
                <a:ext uri="{FF2B5EF4-FFF2-40B4-BE49-F238E27FC236}">
                  <a16:creationId xmlns:a16="http://schemas.microsoft.com/office/drawing/2014/main" id="{AFE83BB3-4D12-8E20-CA93-1834D7F0A4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306906" y="3837599"/>
              <a:ext cx="100584" cy="100584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Graphic 12">
              <a:extLst>
                <a:ext uri="{FF2B5EF4-FFF2-40B4-BE49-F238E27FC236}">
                  <a16:creationId xmlns:a16="http://schemas.microsoft.com/office/drawing/2014/main" id="{3EB1D810-BC05-6C0E-0DE4-3604EBAA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653351" y="4521502"/>
              <a:ext cx="45719" cy="37785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4">
                <a:lumMod val="60000"/>
                <a:lumOff val="40000"/>
                <a:alpha val="49071"/>
              </a:schemeClr>
            </a:solidFill>
            <a:ln w="422" cap="flat">
              <a:noFill/>
              <a:prstDash val="solid"/>
              <a:miter/>
            </a:ln>
          </p:spPr>
          <p:txBody>
            <a:bodyPr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1680" y="430482"/>
            <a:ext cx="10500989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2003C5A-BF21-DE87-0ED1-3E2D0F32B5D8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>
          <a:xfrm>
            <a:off x="807038" y="2465539"/>
            <a:ext cx="3774587" cy="3723753"/>
          </a:xfrm>
        </p:spPr>
        <p:txBody>
          <a:bodyPr/>
          <a:lstStyle>
            <a:lvl1pPr marL="342900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eriod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62636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eriod"/>
              <a:defRPr sz="1800" spc="0">
                <a:solidFill>
                  <a:schemeClr val="bg1"/>
                </a:solidFill>
                <a:latin typeface="+mn-lt"/>
              </a:defRPr>
            </a:lvl2pPr>
            <a:lvl3pPr marL="918972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rabicParenR"/>
              <a:defRPr sz="1800" spc="0">
                <a:solidFill>
                  <a:schemeClr val="bg1"/>
                </a:solidFill>
                <a:latin typeface="+mn-lt"/>
              </a:defRPr>
            </a:lvl3pPr>
            <a:lvl4pPr marL="1209294" indent="-34290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+mj-lt"/>
              <a:buAutoNum type="alphaLcParenR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4927600" y="2465539"/>
            <a:ext cx="6315069" cy="3723753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283464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2pPr>
            <a:lvl3pPr marL="566928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3pPr>
            <a:lvl4pPr marL="859536" indent="-285750">
              <a:lnSpc>
                <a:spcPct val="120000"/>
              </a:lnSpc>
              <a:spcBef>
                <a:spcPts val="1000"/>
              </a:spcBef>
              <a:buClr>
                <a:schemeClr val="accent3">
                  <a:lumMod val="75000"/>
                </a:schemeClr>
              </a:buClr>
              <a:buFont typeface="Arial" panose="020B0604020202020204" pitchFamily="34" charset="0"/>
              <a:buChar char="•"/>
              <a:defRPr sz="1800" spc="0">
                <a:solidFill>
                  <a:schemeClr val="bg1"/>
                </a:solidFill>
                <a:latin typeface="+mn-lt"/>
              </a:defRPr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222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123B0D0-B01D-0BB0-6127-A878BE49D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39728" y="-6350"/>
            <a:ext cx="6154615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89627" y="173736"/>
            <a:ext cx="4352662" cy="220370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C363351-4779-B42E-ED7A-C4AF2920BABC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6550" y="336550"/>
            <a:ext cx="5303640" cy="6184900"/>
          </a:xfrm>
        </p:spPr>
        <p:txBody>
          <a:bodyPr/>
          <a:lstStyle>
            <a:lvl1pPr algn="ctr"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6889627" y="3104277"/>
            <a:ext cx="4371560" cy="3022201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712911-615E-724B-FC0F-99629152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889627" y="2679480"/>
            <a:ext cx="4352662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082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FFF0E2-6B47-67EB-D6AA-D972E7B7C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4646951" cy="686435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4827F6F-999F-23E9-8C09-325D1A76B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80134"/>
            <a:ext cx="3114078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171396"/>
            <a:ext cx="3736630" cy="2202350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41716" y="3078480"/>
            <a:ext cx="3108193" cy="3047997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6"/>
              </a:buClr>
              <a:buFont typeface="Arial" panose="020B0604020202020204" pitchFamily="34" charset="0"/>
              <a:buNone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921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2pPr>
            <a:lvl3pPr marL="861822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3pPr>
            <a:lvl4pPr marL="1152144" indent="-28575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Table Placeholder 11">
            <a:extLst>
              <a:ext uri="{FF2B5EF4-FFF2-40B4-BE49-F238E27FC236}">
                <a16:creationId xmlns:a16="http://schemas.microsoft.com/office/drawing/2014/main" id="{D360C16C-E69B-FDEF-F033-CA9A2E238288}"/>
              </a:ext>
            </a:extLst>
          </p:cNvPr>
          <p:cNvSpPr>
            <a:spLocks noGrp="1"/>
          </p:cNvSpPr>
          <p:nvPr>
            <p:ph type="tbl" sz="quarter" idx="37"/>
          </p:nvPr>
        </p:nvSpPr>
        <p:spPr>
          <a:xfrm>
            <a:off x="5067300" y="404813"/>
            <a:ext cx="6705600" cy="6048375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907219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96A82D-0723-4BA3-0283-9F0D67B0CE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20A5FD-BDFB-45F2-E644-E93FB81CA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416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3562" y="433906"/>
            <a:ext cx="10515601" cy="1327464"/>
          </a:xfrm>
        </p:spPr>
        <p:txBody>
          <a:bodyPr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39870F08-C2AE-9AF7-58DE-EEA8A48BEDA9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>
          <a:xfrm>
            <a:off x="814302" y="2465535"/>
            <a:ext cx="7303538" cy="3427265"/>
          </a:xfrm>
        </p:spPr>
        <p:txBody>
          <a:bodyPr/>
          <a:lstStyle>
            <a:lvl1pPr marL="283464" indent="-283464"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buFont typeface="Arial" panose="020B0604020202020204" pitchFamily="34" charset="0"/>
              <a:buChar char="•"/>
              <a:defRPr sz="1800" spc="0" baseline="0">
                <a:solidFill>
                  <a:schemeClr val="bg1"/>
                </a:solidFill>
                <a:latin typeface="+mn-lt"/>
              </a:defRPr>
            </a:lvl1pPr>
            <a:lvl2pPr marL="566928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2pPr>
            <a:lvl3pPr marL="859536" indent="-28346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3pPr>
            <a:lvl4pPr marL="1152144">
              <a:lnSpc>
                <a:spcPct val="120000"/>
              </a:lnSpc>
              <a:spcBef>
                <a:spcPts val="500"/>
              </a:spcBef>
              <a:buClr>
                <a:schemeClr val="accent3"/>
              </a:buClr>
              <a:defRPr sz="1800" spc="0"/>
            </a:lvl4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E7FC75E-AA73-003E-D4E3-B1819886AF9C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8392160" y="2465388"/>
            <a:ext cx="2856865" cy="3427412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bg1"/>
                </a:solidFill>
                <a:latin typeface="+mn-lt"/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5611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bg>
      <p:bgPr>
        <a:gradFill>
          <a:gsLst>
            <a:gs pos="100000">
              <a:schemeClr val="tx2"/>
            </a:gs>
            <a:gs pos="81000">
              <a:schemeClr val="accent6"/>
            </a:gs>
            <a:gs pos="31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2D51531-1219-2E4B-DCE7-C6FD9D809F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21869" y="343814"/>
            <a:ext cx="11550701" cy="6210605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EC02E56-87A4-158A-F0B0-DB8E9BE3A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91547"/>
            <a:ext cx="10546763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F8070BB-B3B5-3A8A-2466-D661C741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370" y="643842"/>
            <a:ext cx="10515601" cy="1140849"/>
          </a:xfrm>
        </p:spPr>
        <p:txBody>
          <a:bodyPr lIns="0" anchor="b">
            <a:noAutofit/>
          </a:bodyPr>
          <a:lstStyle>
            <a:lvl1pPr algn="l">
              <a:defRPr sz="3200" cap="all" spc="0" baseline="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able Placeholder 9">
            <a:extLst>
              <a:ext uri="{FF2B5EF4-FFF2-40B4-BE49-F238E27FC236}">
                <a16:creationId xmlns:a16="http://schemas.microsoft.com/office/drawing/2014/main" id="{471D7DE3-05F5-8052-02FA-6EF9717E15BE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5025" y="2560638"/>
            <a:ext cx="10515600" cy="3478212"/>
          </a:xfrm>
        </p:spPr>
        <p:txBody>
          <a:bodyPr/>
          <a:lstStyle>
            <a:lvl1pPr>
              <a:defRPr sz="2400"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468DE94-FC46-A848-7949-ABFEADADE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7039" y="1983705"/>
            <a:ext cx="10435630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02A6961-FD29-3446-6A70-B0D4EE5D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6405" y="6237287"/>
            <a:ext cx="4114800" cy="365125"/>
          </a:xfrm>
        </p:spPr>
        <p:txBody>
          <a:bodyPr>
            <a:noAutofit/>
          </a:bodyPr>
          <a:lstStyle>
            <a:lvl1pPr algn="l">
              <a:defRPr sz="1200" spc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8477A85-1CCD-1BF5-8FF0-11B80AE2F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>
            <a:noAutofit/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5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gradFill>
          <a:gsLst>
            <a:gs pos="81987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89F5C3D-E9E6-75E0-BF7D-799B5CFE5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575462" y="4137"/>
            <a:ext cx="7616537" cy="6853863"/>
            <a:chOff x="4575462" y="4137"/>
            <a:chExt cx="7616537" cy="6853863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DE1D2C2-40C4-6B80-E8C6-B4CE94C23037}"/>
                </a:ext>
              </a:extLst>
            </p:cNvPr>
            <p:cNvGrpSpPr/>
            <p:nvPr/>
          </p:nvGrpSpPr>
          <p:grpSpPr>
            <a:xfrm>
              <a:off x="4575462" y="691665"/>
              <a:ext cx="364018" cy="857035"/>
              <a:chOff x="468157" y="1144246"/>
              <a:chExt cx="364018" cy="857035"/>
            </a:xfrm>
          </p:grpSpPr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04D88-E1BE-F1FA-D405-F55DA966DA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705405" y="1144246"/>
                <a:ext cx="126770" cy="126770"/>
              </a:xfrm>
              <a:prstGeom prst="ellipse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  <a:alpha val="49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Graphic 12">
                <a:extLst>
                  <a:ext uri="{FF2B5EF4-FFF2-40B4-BE49-F238E27FC236}">
                    <a16:creationId xmlns:a16="http://schemas.microsoft.com/office/drawing/2014/main" id="{1D8F0816-C429-D32E-058B-33405874DF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/>
            </p:nvSpPr>
            <p:spPr>
              <a:xfrm>
                <a:off x="468157" y="1963496"/>
                <a:ext cx="45719" cy="37785"/>
              </a:xfrm>
              <a:custGeom>
                <a:avLst/>
                <a:gdLst>
                  <a:gd name="connsiteX0" fmla="*/ 91138 w 91138"/>
                  <a:gd name="connsiteY0" fmla="*/ 45569 h 91138"/>
                  <a:gd name="connsiteX1" fmla="*/ 45569 w 91138"/>
                  <a:gd name="connsiteY1" fmla="*/ 91138 h 91138"/>
                  <a:gd name="connsiteX2" fmla="*/ 0 w 91138"/>
                  <a:gd name="connsiteY2" fmla="*/ 45569 h 91138"/>
                  <a:gd name="connsiteX3" fmla="*/ 45569 w 91138"/>
                  <a:gd name="connsiteY3" fmla="*/ 0 h 91138"/>
                  <a:gd name="connsiteX4" fmla="*/ 91138 w 91138"/>
                  <a:gd name="connsiteY4" fmla="*/ 45569 h 91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138" h="91138">
                    <a:moveTo>
                      <a:pt x="91138" y="45569"/>
                    </a:moveTo>
                    <a:cubicBezTo>
                      <a:pt x="91138" y="70736"/>
                      <a:pt x="70736" y="91138"/>
                      <a:pt x="45569" y="91138"/>
                    </a:cubicBezTo>
                    <a:cubicBezTo>
                      <a:pt x="20402" y="91138"/>
                      <a:pt x="0" y="70736"/>
                      <a:pt x="0" y="45569"/>
                    </a:cubicBezTo>
                    <a:cubicBezTo>
                      <a:pt x="0" y="20402"/>
                      <a:pt x="20402" y="0"/>
                      <a:pt x="45569" y="0"/>
                    </a:cubicBezTo>
                    <a:cubicBezTo>
                      <a:pt x="70736" y="0"/>
                      <a:pt x="91138" y="20402"/>
                      <a:pt x="91138" y="45569"/>
                    </a:cubicBezTo>
                    <a:close/>
                  </a:path>
                </a:pathLst>
              </a:custGeom>
              <a:solidFill>
                <a:schemeClr val="accent4">
                  <a:lumMod val="60000"/>
                  <a:lumOff val="40000"/>
                  <a:alpha val="49071"/>
                </a:schemeClr>
              </a:solidFill>
              <a:ln w="422" cap="flat">
                <a:noFill/>
                <a:prstDash val="solid"/>
                <a:miter/>
              </a:ln>
            </p:spPr>
            <p:txBody>
              <a:bodyPr rtlCol="0" anchor="ctr">
                <a:noAutofit/>
              </a:bodyPr>
              <a:lstStyle/>
              <a:p>
                <a:endParaRPr lang="en-US" dirty="0"/>
              </a:p>
            </p:txBody>
          </p:sp>
        </p:grpSp>
        <p:pic>
          <p:nvPicPr>
            <p:cNvPr id="4" name="Content Placeholder 14">
              <a:extLst>
                <a:ext uri="{FF2B5EF4-FFF2-40B4-BE49-F238E27FC236}">
                  <a16:creationId xmlns:a16="http://schemas.microsoft.com/office/drawing/2014/main" id="{14AC0A97-7D79-3DBE-FB53-A9EBFD806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42796" y="4137"/>
              <a:ext cx="5649203" cy="68538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E83F98-B388-2594-BACB-E3DB652C9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5831" y="173735"/>
            <a:ext cx="4409514" cy="2203704"/>
          </a:xfrm>
        </p:spPr>
        <p:txBody>
          <a:bodyPr anchor="b">
            <a:noAutofit/>
          </a:bodyPr>
          <a:lstStyle>
            <a:lvl1pPr>
              <a:defRPr sz="3200" cap="all" baseline="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D9D0F3E-69D8-49F3-5D7A-71FDC4E3EEE3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1850" y="3079119"/>
            <a:ext cx="4413250" cy="2752725"/>
          </a:xfrm>
        </p:spPr>
        <p:txBody>
          <a:bodyPr/>
          <a:lstStyle>
            <a:lvl1pPr>
              <a:lnSpc>
                <a:spcPct val="120000"/>
              </a:lnSpc>
              <a:spcBef>
                <a:spcPts val="1000"/>
              </a:spcBef>
              <a:defRPr sz="180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60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40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4pPr>
            <a:lvl5pPr>
              <a:lnSpc>
                <a:spcPct val="120000"/>
              </a:lnSpc>
              <a:spcBef>
                <a:spcPts val="1000"/>
              </a:spcBef>
              <a:buClr>
                <a:schemeClr val="accent3"/>
              </a:buClr>
              <a:defRPr sz="12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CFC792-44F7-2497-E19D-8FB08AFF9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35831" y="2679192"/>
            <a:ext cx="4101929" cy="0"/>
          </a:xfrm>
          <a:prstGeom prst="line">
            <a:avLst/>
          </a:prstGeom>
          <a:ln w="25400">
            <a:gradFill>
              <a:gsLst>
                <a:gs pos="0">
                  <a:schemeClr val="accent4">
                    <a:lumMod val="50000"/>
                  </a:schemeClr>
                </a:gs>
                <a:gs pos="100000">
                  <a:schemeClr val="accent6"/>
                </a:gs>
              </a:gsLst>
              <a:lin ang="10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/>
            </a:gs>
            <a:gs pos="99000">
              <a:srgbClr val="0520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3EA418-19D1-0D4D-BE52-40A86E32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BAE0C-5187-A64D-A481-E692456703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59C05-48F5-9346-8256-5B61C6990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175D63-7351-9C4A-AEE0-10E27B3B64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50889F-2BBA-5F45-95BC-BEA668816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bg1"/>
                </a:solidFill>
                <a:latin typeface="+mj-lt"/>
                <a:cs typeface="Biome" panose="020B0503030204020804" pitchFamily="34" charset="0"/>
              </a:defRPr>
            </a:lvl1pPr>
          </a:lstStyle>
          <a:p>
            <a:fld id="{FE024F78-56A6-7740-B68D-8D4D026EDF3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693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79" r:id="rId2"/>
    <p:sldLayoutId id="2147483669" r:id="rId3"/>
    <p:sldLayoutId id="2147483672" r:id="rId4"/>
    <p:sldLayoutId id="2147483673" r:id="rId5"/>
    <p:sldLayoutId id="2147483674" r:id="rId6"/>
    <p:sldLayoutId id="2147483671" r:id="rId7"/>
    <p:sldLayoutId id="2147483675" r:id="rId8"/>
    <p:sldLayoutId id="2147483676" r:id="rId9"/>
    <p:sldLayoutId id="2147483670" r:id="rId10"/>
    <p:sldLayoutId id="2147483677" r:id="rId11"/>
    <p:sldLayoutId id="2147483678" r:id="rId12"/>
    <p:sldLayoutId id="2147483664" r:id="rId13"/>
    <p:sldLayoutId id="214748366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300" baseline="0">
          <a:solidFill>
            <a:schemeClr val="bg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accent3"/>
          </a:solidFill>
          <a:latin typeface="+mj-lt"/>
          <a:ea typeface="+mn-ea"/>
          <a:cs typeface="Biome" panose="020B0503030204020804" pitchFamily="34" charset="0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97874EA-2F67-60CD-631F-5A787057F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38135"/>
            <a:ext cx="12191998" cy="3404681"/>
          </a:xfrm>
        </p:spPr>
        <p:txBody>
          <a:bodyPr anchor="b"/>
          <a:lstStyle/>
          <a:p>
            <a:r>
              <a:rPr lang="en-US" dirty="0"/>
              <a:t>Sdcr3 </a:t>
            </a:r>
            <a:br>
              <a:rPr lang="en-US" dirty="0"/>
            </a:br>
            <a:r>
              <a:rPr lang="en-US" dirty="0"/>
              <a:t>Final Project</a:t>
            </a:r>
          </a:p>
        </p:txBody>
      </p:sp>
    </p:spTree>
    <p:extLst>
      <p:ext uri="{BB962C8B-B14F-4D97-AF65-F5344CB8AC3E}">
        <p14:creationId xmlns:p14="http://schemas.microsoft.com/office/powerpoint/2010/main" val="2498031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2"/>
            </a:gs>
            <a:gs pos="81000">
              <a:schemeClr val="accent6"/>
            </a:gs>
            <a:gs pos="55000">
              <a:srgbClr val="02090E"/>
            </a:gs>
            <a:gs pos="14000">
              <a:schemeClr val="accent4">
                <a:lumMod val="75000"/>
              </a:schemeClr>
            </a:gs>
            <a:gs pos="0">
              <a:schemeClr val="accent4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A2458FF-0D0C-4ACC-C6FB-103BC0BAD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4466502" cy="1936866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F1239C0E-3F39-787D-0FC3-6B7C9BA37E8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8201" y="3097848"/>
            <a:ext cx="4466504" cy="3405187"/>
          </a:xfrm>
        </p:spPr>
        <p:txBody>
          <a:bodyPr anchor="t"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Tools </a:t>
            </a:r>
          </a:p>
          <a:p>
            <a:r>
              <a:rPr lang="en-US" dirty="0"/>
              <a:t>Screenshots &amp; Results</a:t>
            </a:r>
          </a:p>
          <a:p>
            <a:r>
              <a:rPr lang="en-US" dirty="0"/>
              <a:t>Charts</a:t>
            </a:r>
          </a:p>
          <a:p>
            <a:r>
              <a:rPr lang="en-US" dirty="0"/>
              <a:t>Insights</a:t>
            </a:r>
          </a:p>
          <a:p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460159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260D053B-A40A-3228-B6D5-3371B9EE2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868" y="2519463"/>
            <a:ext cx="11562303" cy="1887167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A971A9-0C5C-DDFC-67F9-2E5A55F1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7193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60903-003B-273E-3584-5312F76C3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5225" y="113097"/>
            <a:ext cx="8498946" cy="1656304"/>
          </a:xfrm>
        </p:spPr>
        <p:txBody>
          <a:bodyPr/>
          <a:lstStyle/>
          <a:p>
            <a:r>
              <a:rPr lang="en-US" dirty="0"/>
              <a:t>Introduction , goal and objective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347AE7-D6A2-42FB-3D58-6297742FC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A0C0D98-EB5F-3FDE-21BA-E352570A833D}"/>
              </a:ext>
            </a:extLst>
          </p:cNvPr>
          <p:cNvSpPr>
            <a:spLocks noGrp="1" noChangeArrowheads="1"/>
          </p:cNvSpPr>
          <p:nvPr>
            <p:ph sz="quarter" idx="31"/>
          </p:nvPr>
        </p:nvSpPr>
        <p:spPr bwMode="auto">
          <a:xfrm>
            <a:off x="3385226" y="2564802"/>
            <a:ext cx="779185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Objective: Analyze sales data to uncover trends, customer behavior, top products, and profitability.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Data sources: Fact table + multiple dimension tables (Customer, Product, Date, etc.).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Goal: Provide actionable insights through a complete data pipeline.</a:t>
            </a:r>
          </a:p>
        </p:txBody>
      </p:sp>
    </p:spTree>
    <p:extLst>
      <p:ext uri="{BB962C8B-B14F-4D97-AF65-F5344CB8AC3E}">
        <p14:creationId xmlns:p14="http://schemas.microsoft.com/office/powerpoint/2010/main" val="1962637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A9227-B97D-E8BE-8E03-CD704F373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B5CE1DA1-5F7F-C293-C843-3FFDF0E92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868" y="2519463"/>
            <a:ext cx="11562303" cy="1887167"/>
          </a:xfrm>
        </p:spPr>
        <p:txBody>
          <a:bodyPr/>
          <a:lstStyle/>
          <a:p>
            <a:r>
              <a:rPr lang="en-US" dirty="0"/>
              <a:t>Tools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C6C679-D5F6-E42A-3163-2C45C7A3C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550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ED398-6FDA-A0C7-DAD2-0237C93D4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CAD00-9AF3-CB26-E181-66A0314F7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/>
          <a:lstStyle/>
          <a:p>
            <a:r>
              <a:rPr lang="en-US" dirty="0"/>
              <a:t>Tools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A635ED-2966-AE41-2D46-AA053F8C9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56A6F1D-9393-6D52-9FDB-F86894BDBD70}"/>
              </a:ext>
            </a:extLst>
          </p:cNvPr>
          <p:cNvSpPr>
            <a:spLocks noGrp="1" noChangeArrowheads="1"/>
          </p:cNvSpPr>
          <p:nvPr>
            <p:ph sz="quarter" idx="31"/>
          </p:nvPr>
        </p:nvSpPr>
        <p:spPr bwMode="auto">
          <a:xfrm>
            <a:off x="3035030" y="3094856"/>
            <a:ext cx="8424153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Python: Cleaning ,Preparation ,EDA ,ML Models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Po</a:t>
            </a:r>
            <a:r>
              <a:rPr lang="en-US" altLang="en-US" sz="2400" dirty="0">
                <a:latin typeface="Arial" panose="020B0604020202020204" pitchFamily="34" charset="0"/>
              </a:rPr>
              <a:t>wer BI: Data Modeling ,DAX ,Dashboards Design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SQL: Preparation ,Schemas ,Analytical Queries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Excel: Cleaning ,Transformation ,Pivot Tables , Dashboard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8829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B262D-DE73-3923-C929-147CE87CF3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C37370DF-3B8F-69B9-487C-B1F162701B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868" y="2519463"/>
            <a:ext cx="11562303" cy="1887167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436291-F48E-792D-EC03-F153DD5FB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558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692FC88-DAD7-F5AD-7831-DE5432210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5B7559-6A66-1A9D-9700-776382636F3E}"/>
              </a:ext>
            </a:extLst>
          </p:cNvPr>
          <p:cNvSpPr txBox="1"/>
          <p:nvPr/>
        </p:nvSpPr>
        <p:spPr>
          <a:xfrm>
            <a:off x="1955260" y="2"/>
            <a:ext cx="7752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Excel Dashboard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2DF868D-E6D7-5620-AF66-515CDCF06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" y="461667"/>
            <a:ext cx="12191998" cy="6396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733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77D6E1-E8C5-EB08-C98A-35B21F7F9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5B6E8899-E785-67D3-1CEC-7E27B1EA9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51E4CA-6020-8977-D363-FC2F51FD279F}"/>
              </a:ext>
            </a:extLst>
          </p:cNvPr>
          <p:cNvSpPr txBox="1"/>
          <p:nvPr/>
        </p:nvSpPr>
        <p:spPr>
          <a:xfrm>
            <a:off x="1955260" y="2"/>
            <a:ext cx="7752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PBI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8858D4-46FA-DC58-0B0E-A25B274FD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0626"/>
            <a:ext cx="12192000" cy="6534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830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D4263-8F45-A90B-1FDB-1536E6D1B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1E179B58-9D75-F5E2-00DE-FB1379643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43D4DA-FBE0-5C8B-8EB8-B9194536B622}"/>
              </a:ext>
            </a:extLst>
          </p:cNvPr>
          <p:cNvSpPr txBox="1"/>
          <p:nvPr/>
        </p:nvSpPr>
        <p:spPr>
          <a:xfrm>
            <a:off x="1955260" y="2"/>
            <a:ext cx="7752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PBI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081420-0043-5922-8FB6-119024FAA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7430"/>
            <a:ext cx="12192000" cy="644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52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7516C-E798-85AD-3336-E61BE3F76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33F1370F-CF3A-31DF-6C0B-DF25A6197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6E19E4-F1F4-EB8B-3F38-EDEBE40158B3}"/>
              </a:ext>
            </a:extLst>
          </p:cNvPr>
          <p:cNvSpPr txBox="1"/>
          <p:nvPr/>
        </p:nvSpPr>
        <p:spPr>
          <a:xfrm>
            <a:off x="1955260" y="2"/>
            <a:ext cx="7752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PBI Dashboard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91BD8B-F84C-80A4-7E39-8675E2E5E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1666"/>
            <a:ext cx="12192000" cy="639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7511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52A95-5721-4031-CFDB-EC712CEBD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A6C51076-3ABC-994E-111E-67A6E6AC6F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2B410B-E891-6A61-1E4B-33FC128F3E12}"/>
              </a:ext>
            </a:extLst>
          </p:cNvPr>
          <p:cNvSpPr txBox="1"/>
          <p:nvPr/>
        </p:nvSpPr>
        <p:spPr>
          <a:xfrm>
            <a:off x="1955260" y="2"/>
            <a:ext cx="7752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Star Schema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2E63047-64D7-054A-6501-B04DDDC01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2252"/>
            <a:ext cx="12191999" cy="627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20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B8CD9-1B8C-8854-B4DD-779EA7C45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59F9645B-B462-1D0D-E0EE-81F2AF8CE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B67519-CAC0-1A1C-2B12-86B47AF8FE8E}"/>
              </a:ext>
            </a:extLst>
          </p:cNvPr>
          <p:cNvSpPr txBox="1"/>
          <p:nvPr/>
        </p:nvSpPr>
        <p:spPr>
          <a:xfrm>
            <a:off x="1955260" y="2"/>
            <a:ext cx="7752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solidFill>
                  <a:schemeClr val="bg1"/>
                </a:solidFill>
              </a:rPr>
              <a:t>SnowFlake</a:t>
            </a:r>
            <a:r>
              <a:rPr lang="en-US" sz="2400" dirty="0">
                <a:solidFill>
                  <a:schemeClr val="bg1"/>
                </a:solidFill>
              </a:rPr>
              <a:t> Schema</a:t>
            </a:r>
          </a:p>
        </p:txBody>
      </p:sp>
      <p:pic>
        <p:nvPicPr>
          <p:cNvPr id="5" name="Picture 4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16877FF7-9385-91D2-F006-DC570919D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7821" y="548390"/>
            <a:ext cx="12269821" cy="630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4192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88A1C-3C15-E341-F7B6-E23F54351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6D4E45B8-45CA-5815-BE5B-DD782E6A6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BB2EA2-517C-1F36-9202-9A11603238DA}"/>
              </a:ext>
            </a:extLst>
          </p:cNvPr>
          <p:cNvSpPr txBox="1"/>
          <p:nvPr/>
        </p:nvSpPr>
        <p:spPr>
          <a:xfrm>
            <a:off x="1955260" y="2"/>
            <a:ext cx="7752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Data Modeling Excel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656C078-07E0-BA2B-77C6-16B27D7AE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4749"/>
            <a:ext cx="12192000" cy="6313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321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C37CC-450A-10DA-ABDD-A75F5C09D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22D8FFA3-EA60-A649-8F8F-F46728DD7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C96C7D-B343-30F8-7E08-E6DC27CE4423}"/>
              </a:ext>
            </a:extLst>
          </p:cNvPr>
          <p:cNvSpPr txBox="1"/>
          <p:nvPr/>
        </p:nvSpPr>
        <p:spPr>
          <a:xfrm>
            <a:off x="1955260" y="2"/>
            <a:ext cx="7752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Data Modeling PBI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531539-59EC-1471-1E37-5EC3BCA0DA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461667"/>
            <a:ext cx="12191999" cy="6396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7899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49625-E14A-20F0-D9F9-6D9F02751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946BFDC6-6E54-C650-00AB-6EB7AE0F20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F0B1A1-7A58-B4E8-BF40-068705340493}"/>
              </a:ext>
            </a:extLst>
          </p:cNvPr>
          <p:cNvSpPr txBox="1"/>
          <p:nvPr/>
        </p:nvSpPr>
        <p:spPr>
          <a:xfrm>
            <a:off x="1955260" y="2"/>
            <a:ext cx="7752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Excel Pivot Tables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CE0788-2CE3-A7DB-C294-FB814B262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1667"/>
            <a:ext cx="12192000" cy="6396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8505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5D286-18B7-BC3B-2C87-1B5240D67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57C17E2-A76D-659A-52B4-09918AA0B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19532A-379A-87E0-F462-5E2F80CCE577}"/>
              </a:ext>
            </a:extLst>
          </p:cNvPr>
          <p:cNvSpPr txBox="1"/>
          <p:nvPr/>
        </p:nvSpPr>
        <p:spPr>
          <a:xfrm>
            <a:off x="1955260" y="2"/>
            <a:ext cx="7752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SQL Queries &amp; 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51C45B-4831-E1A8-B15A-BDD9B6655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44" y="461666"/>
            <a:ext cx="11923111" cy="6396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1111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CBBED-17A4-0648-E0E8-AEFE2F295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D7DADFA1-35DB-2CCA-C409-FD6F14A40B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D77C31-62D0-3FDF-C2FB-6FBE35A85205}"/>
              </a:ext>
            </a:extLst>
          </p:cNvPr>
          <p:cNvSpPr txBox="1"/>
          <p:nvPr/>
        </p:nvSpPr>
        <p:spPr>
          <a:xfrm>
            <a:off x="1955260" y="2"/>
            <a:ext cx="7752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SQL Queries &amp;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6077E2-B70D-5750-389A-14CD7C734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1666"/>
            <a:ext cx="12192000" cy="6284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3452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6CAFD-1056-24A4-77AC-B43E6B7FF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6864DC32-BD83-4E71-ED35-ACAA46EF45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071B17-F98F-4144-9D12-7106D810619C}"/>
              </a:ext>
            </a:extLst>
          </p:cNvPr>
          <p:cNvSpPr txBox="1"/>
          <p:nvPr/>
        </p:nvSpPr>
        <p:spPr>
          <a:xfrm>
            <a:off x="1955260" y="2"/>
            <a:ext cx="7752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SQL Queries &amp;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0773F6-8C81-6180-C8C2-567A3D53F1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3387"/>
            <a:ext cx="12192000" cy="6264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2952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312EB-DC53-2564-AFB5-72981D233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7D3BA213-A1CB-E9E1-9D77-3741DC7C3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4F33AD-16AA-2396-0A53-6425DD23ACC2}"/>
              </a:ext>
            </a:extLst>
          </p:cNvPr>
          <p:cNvSpPr txBox="1"/>
          <p:nvPr/>
        </p:nvSpPr>
        <p:spPr>
          <a:xfrm>
            <a:off x="1955260" y="2"/>
            <a:ext cx="7752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SQL Queries &amp;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84EA3F-BCC2-E161-197B-178ABDA1C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3115"/>
            <a:ext cx="12192000" cy="6254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6739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640DD-2AFF-CACA-9DEC-49BD06C8F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A0825BFA-DFBE-160A-FA7F-1F47BB4BD7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BA3562-A274-6F05-CD21-016FD6B1FAEE}"/>
              </a:ext>
            </a:extLst>
          </p:cNvPr>
          <p:cNvSpPr txBox="1"/>
          <p:nvPr/>
        </p:nvSpPr>
        <p:spPr>
          <a:xfrm>
            <a:off x="1955260" y="2"/>
            <a:ext cx="7752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Python 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4B752D-34D6-55D1-8BD4-8E6E7FB352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3386"/>
            <a:ext cx="12191999" cy="6264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6123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24A06-EAA9-C692-99A7-0A7080800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750F581F-BE0F-122D-1710-708A1D909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EB06E6-1622-8534-8BFA-AAFC920719DB}"/>
              </a:ext>
            </a:extLst>
          </p:cNvPr>
          <p:cNvSpPr txBox="1"/>
          <p:nvPr/>
        </p:nvSpPr>
        <p:spPr>
          <a:xfrm>
            <a:off x="1955260" y="2"/>
            <a:ext cx="7752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Python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4C4F49-BDCE-50E9-E875-F4AA54F51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651753"/>
            <a:ext cx="12191999" cy="6206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6131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801CF-B829-6D10-A59F-904226827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5A0DE360-155D-57BC-43D7-D0EEA18D7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9E3E6C-AB47-69A3-E0EF-BAA81332C886}"/>
              </a:ext>
            </a:extLst>
          </p:cNvPr>
          <p:cNvSpPr txBox="1"/>
          <p:nvPr/>
        </p:nvSpPr>
        <p:spPr>
          <a:xfrm>
            <a:off x="1955260" y="2"/>
            <a:ext cx="7752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Python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10BA42-55AF-CD86-8A9F-275BAF3DD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31132"/>
            <a:ext cx="12192000" cy="5826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3195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C5605-A950-0333-A280-AC9D12B6C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763A87BE-6111-3763-38EC-386AF6214E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6504C8-A1C5-8E4C-FCDA-AB143D409230}"/>
              </a:ext>
            </a:extLst>
          </p:cNvPr>
          <p:cNvSpPr txBox="1"/>
          <p:nvPr/>
        </p:nvSpPr>
        <p:spPr>
          <a:xfrm>
            <a:off x="1955260" y="2"/>
            <a:ext cx="7752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Python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A387F6-6983-673E-DD9E-B12DCE4E2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807396"/>
            <a:ext cx="12191999" cy="6050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6035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E2FF7-F801-96B8-7C92-B73CC7512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C602E622-C2DD-3599-9BEA-7401765B4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26619A-C0BF-C1C6-5114-519BB9C6BA00}"/>
              </a:ext>
            </a:extLst>
          </p:cNvPr>
          <p:cNvSpPr txBox="1"/>
          <p:nvPr/>
        </p:nvSpPr>
        <p:spPr>
          <a:xfrm>
            <a:off x="1955260" y="2"/>
            <a:ext cx="7752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Python 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0563C0-E557-73F4-6ADB-96A74824A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95601"/>
            <a:ext cx="12191999" cy="5266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8951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5AEB3-5A69-06AB-65EB-7BB3CE804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1529FE6D-8D06-FA46-8BE9-39BA4D313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12227942" cy="6857997"/>
          </a:xfrm>
          <a:prstGeom prst="rect">
            <a:avLst/>
          </a:pr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29F623-2D9F-BE10-9974-BB7AE9B807CE}"/>
              </a:ext>
            </a:extLst>
          </p:cNvPr>
          <p:cNvSpPr txBox="1"/>
          <p:nvPr/>
        </p:nvSpPr>
        <p:spPr>
          <a:xfrm>
            <a:off x="1955260" y="2"/>
            <a:ext cx="77529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Python 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B074D8-81DD-C464-53F1-F65F1A7322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33074"/>
            <a:ext cx="12191999" cy="602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6996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CD277-0751-0452-7A17-A37273D6B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377668C6-B540-F487-452F-FBEF67295C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868" y="2519463"/>
            <a:ext cx="11562303" cy="1887167"/>
          </a:xfrm>
        </p:spPr>
        <p:txBody>
          <a:bodyPr/>
          <a:lstStyle/>
          <a:p>
            <a:r>
              <a:rPr lang="en-US" dirty="0"/>
              <a:t>Charts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585EB1-73E8-C3D5-6AA3-E26DDA9DF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1208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A29A4-AAFD-04EE-0732-0671E83D5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620" y="162560"/>
            <a:ext cx="8843050" cy="1616904"/>
          </a:xfrm>
        </p:spPr>
        <p:txBody>
          <a:bodyPr/>
          <a:lstStyle/>
          <a:p>
            <a:r>
              <a:rPr lang="en-US" dirty="0"/>
              <a:t>Excel (Pivot + Charts)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FEE91-E849-1CB0-9E51-A58B99C631C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2373002" y="2474811"/>
            <a:ext cx="7909134" cy="3293691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Bar Chart</a:t>
            </a:r>
            <a:r>
              <a:rPr lang="en-US" dirty="0"/>
              <a:t> – Top 5 Products by Quantity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Bar Chart</a:t>
            </a:r>
            <a:r>
              <a:rPr lang="en-US" dirty="0"/>
              <a:t> – Top 5 Customers by Sales Amount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Horizontal Bar Chart</a:t>
            </a:r>
            <a:r>
              <a:rPr lang="en-US" dirty="0"/>
              <a:t> – Sales by Country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3D Area Chart</a:t>
            </a:r>
            <a:r>
              <a:rPr lang="en-US" dirty="0"/>
              <a:t> – Sales by Country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Pie Chart</a:t>
            </a:r>
            <a:r>
              <a:rPr lang="en-US" dirty="0"/>
              <a:t> – Sales by Year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Horizontal Bar Chart</a:t>
            </a:r>
            <a:r>
              <a:rPr lang="en-US" dirty="0"/>
              <a:t> – Customers by Country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E23533-91C6-420C-B7D7-4977ACF7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6015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AEBCA-81F7-EAAF-2D0C-49D965D3B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9FA11-EF24-6F15-BAFD-0741409E8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620" y="162560"/>
            <a:ext cx="8843050" cy="1616904"/>
          </a:xfrm>
        </p:spPr>
        <p:txBody>
          <a:bodyPr/>
          <a:lstStyle/>
          <a:p>
            <a:r>
              <a:rPr lang="en-US" dirty="0"/>
              <a:t>Power BI – Sales Dashboard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28FB1B-D766-C28C-7F27-9C48FE6AC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40E5F6C-B746-E57B-DA53-C6D687343AEE}"/>
              </a:ext>
            </a:extLst>
          </p:cNvPr>
          <p:cNvSpPr>
            <a:spLocks noGrp="1" noChangeArrowheads="1"/>
          </p:cNvSpPr>
          <p:nvPr>
            <p:ph sz="quarter" idx="35"/>
          </p:nvPr>
        </p:nvSpPr>
        <p:spPr bwMode="auto">
          <a:xfrm>
            <a:off x="2606777" y="3257794"/>
            <a:ext cx="715006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KPI Cards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– Total Quantity, Profit, Cost, Sales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Column Chart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– Total Sales by Country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Horizontal Bar Chart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– Sales by Category &amp;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SubCategory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Horizontal Bar Chart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– Top 10 Products by Sales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Line Chart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– Quantity Sold by Year</a:t>
            </a:r>
          </a:p>
        </p:txBody>
      </p:sp>
    </p:spTree>
    <p:extLst>
      <p:ext uri="{BB962C8B-B14F-4D97-AF65-F5344CB8AC3E}">
        <p14:creationId xmlns:p14="http://schemas.microsoft.com/office/powerpoint/2010/main" val="36164489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ABB7D-F612-3DC6-6181-4AAC38A00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D98B6-F591-87AF-057D-D6C868E23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620" y="162560"/>
            <a:ext cx="8843050" cy="1616904"/>
          </a:xfrm>
        </p:spPr>
        <p:txBody>
          <a:bodyPr/>
          <a:lstStyle/>
          <a:p>
            <a:r>
              <a:rPr lang="en-US" b="1" dirty="0"/>
              <a:t>Power BI – Customers Dashboard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CD032D-4CE0-037D-CEF2-04EF9BBA0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393CE3C-0F04-0B6A-6C58-AFE477D581D5}"/>
              </a:ext>
            </a:extLst>
          </p:cNvPr>
          <p:cNvSpPr>
            <a:spLocks noGrp="1" noChangeArrowheads="1"/>
          </p:cNvSpPr>
          <p:nvPr>
            <p:ph sz="quarter" idx="35"/>
          </p:nvPr>
        </p:nvSpPr>
        <p:spPr bwMode="auto">
          <a:xfrm>
            <a:off x="2178996" y="2732986"/>
            <a:ext cx="838524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KPI Cards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– No. of Customers, Avg Revenue, Total Orders, CLV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Line Chart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– Quantity by Registration Date (Year)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Pie Chart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– Sales by Gender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Horizontal Bar Chart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– Customer Count by Region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Horizontal Bar Chart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– Top 5 Customers by Sales</a:t>
            </a:r>
          </a:p>
        </p:txBody>
      </p:sp>
    </p:spTree>
    <p:extLst>
      <p:ext uri="{BB962C8B-B14F-4D97-AF65-F5344CB8AC3E}">
        <p14:creationId xmlns:p14="http://schemas.microsoft.com/office/powerpoint/2010/main" val="31700139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9526C-3B30-BDE3-03B4-1859333C4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5CB9B-CA2F-2615-B45E-E2D624DBF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620" y="162560"/>
            <a:ext cx="8843050" cy="1616904"/>
          </a:xfrm>
        </p:spPr>
        <p:txBody>
          <a:bodyPr/>
          <a:lstStyle/>
          <a:p>
            <a:r>
              <a:rPr lang="en-US" b="1" dirty="0"/>
              <a:t>Power BI – Product Dashboard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5632F0-1B87-6E2C-4C66-DBDEFD03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D60649D-D457-C973-A1B1-F06D30F0EC59}"/>
              </a:ext>
            </a:extLst>
          </p:cNvPr>
          <p:cNvSpPr>
            <a:spLocks noGrp="1" noChangeArrowheads="1"/>
          </p:cNvSpPr>
          <p:nvPr>
            <p:ph sz="quarter" idx="35"/>
          </p:nvPr>
        </p:nvSpPr>
        <p:spPr bwMode="auto">
          <a:xfrm>
            <a:off x="2504411" y="3014602"/>
            <a:ext cx="873825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KPI Cards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– No. of Products, Profitability, Total Revenue, No. of Subcategories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Table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– Fact Sales (Product, Cost, Unit Price, Total Amount)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Horizontal Bar Chart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– Top 5 Cities by Sales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Column Chart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– Total Sales by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SubCategory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Horizontal Bar Chart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– Total Cost by Product</a:t>
            </a:r>
          </a:p>
        </p:txBody>
      </p:sp>
    </p:spTree>
    <p:extLst>
      <p:ext uri="{BB962C8B-B14F-4D97-AF65-F5344CB8AC3E}">
        <p14:creationId xmlns:p14="http://schemas.microsoft.com/office/powerpoint/2010/main" val="15286953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D4606-0D57-FB54-D19B-0FCB061EC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FBB0F312-B58A-9365-3B6D-AE2402AC96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868" y="2519463"/>
            <a:ext cx="11562303" cy="1887167"/>
          </a:xfrm>
        </p:spPr>
        <p:txBody>
          <a:bodyPr/>
          <a:lstStyle/>
          <a:p>
            <a:r>
              <a:rPr lang="en-US" dirty="0"/>
              <a:t>Insights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09BCD8-9AB2-2EEF-25A1-43E89F7F6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5105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83E06-8BEA-1DD3-D0D6-391C08880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430482"/>
            <a:ext cx="10500989" cy="1327464"/>
          </a:xfrm>
        </p:spPr>
        <p:txBody>
          <a:bodyPr/>
          <a:lstStyle/>
          <a:p>
            <a:r>
              <a:rPr lang="en-US" dirty="0"/>
              <a:t>excel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175D3-F3DC-695F-474B-346EDCA5D60F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1118681" y="2348807"/>
            <a:ext cx="10123988" cy="3723753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/>
              <a:t>Top Products:</a:t>
            </a:r>
            <a:r>
              <a:rPr lang="en-US" dirty="0"/>
              <a:t> Toshiba Washing (9.2K units), Game of Thrones (9K), Deep Work (7.7K).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Top Customers:</a:t>
            </a:r>
            <a:r>
              <a:rPr lang="en-US" dirty="0"/>
              <a:t> David Smith (1.26M) is the largest buyer, followed by Mohamed Salem (1.12M).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Sales by Country:</a:t>
            </a:r>
            <a:r>
              <a:rPr lang="en-US" dirty="0"/>
              <a:t> Saudi Arabia (23.7M) slightly ahead of USA (23.2M).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Sales by Year:</a:t>
            </a:r>
            <a:r>
              <a:rPr lang="en-US" dirty="0"/>
              <a:t> Highest in 2024 (18.2M), lowest in 2020 (6.7M).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/>
              <a:t>Customer Distribution:</a:t>
            </a:r>
            <a:r>
              <a:rPr lang="en-US" dirty="0"/>
              <a:t> Saudi Arabia has the largest customer base (522).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7B8B6A-2B28-5C38-80E7-0EBE705FF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0596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C9CBB-85B6-60EF-A6A7-C757C14BD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BA9B9-1EDA-E8DA-6FFB-B6D9453AF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430482"/>
            <a:ext cx="10500989" cy="1327464"/>
          </a:xfrm>
        </p:spPr>
        <p:txBody>
          <a:bodyPr/>
          <a:lstStyle/>
          <a:p>
            <a:r>
              <a:rPr lang="en-US" dirty="0" err="1"/>
              <a:t>Pbi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E3351-6376-13FC-43FB-6C11278AC878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1118681" y="2348807"/>
            <a:ext cx="10123988" cy="372375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Sales Dashboard:</a:t>
            </a:r>
          </a:p>
          <a:p>
            <a:r>
              <a:rPr lang="en-US" b="1" dirty="0"/>
              <a:t>KPIs:</a:t>
            </a:r>
            <a:r>
              <a:rPr lang="en-US" dirty="0"/>
              <a:t> 149K products sold, 91M total sales, 90.54M profit, 34.4K cost.</a:t>
            </a:r>
          </a:p>
          <a:p>
            <a:r>
              <a:rPr lang="en-US" b="1" dirty="0"/>
              <a:t>By Country:</a:t>
            </a:r>
            <a:r>
              <a:rPr lang="en-US" dirty="0"/>
              <a:t> Saudi Arabia leads at 24M, followed by USA (23M).</a:t>
            </a:r>
          </a:p>
          <a:p>
            <a:r>
              <a:rPr lang="en-US" b="1" dirty="0"/>
              <a:t>By Category:</a:t>
            </a:r>
            <a:r>
              <a:rPr lang="en-US" dirty="0"/>
              <a:t> Electronics (47M) and Home Appliances (40M) dominate.</a:t>
            </a:r>
          </a:p>
          <a:p>
            <a:r>
              <a:rPr lang="en-US" b="1" dirty="0"/>
              <a:t>Top Products:</a:t>
            </a:r>
            <a:r>
              <a:rPr lang="en-US" dirty="0"/>
              <a:t> MacBook Pro (12.6M), Dell Inspiron (8.6M).</a:t>
            </a:r>
          </a:p>
          <a:p>
            <a:r>
              <a:rPr lang="en-US" b="1" dirty="0"/>
              <a:t>Quantity Trend:</a:t>
            </a:r>
            <a:r>
              <a:rPr lang="en-US" dirty="0"/>
              <a:t> Strong growth in 2024 (74K) then a drop in 2025 (46K).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07F56C-7CC5-3CA2-B255-85C580142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1114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2D14E-2FAC-0540-4AC3-49AD42E76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49B30-BA01-E9A7-F7B9-5606984E4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430482"/>
            <a:ext cx="10500989" cy="1327464"/>
          </a:xfrm>
        </p:spPr>
        <p:txBody>
          <a:bodyPr/>
          <a:lstStyle/>
          <a:p>
            <a:r>
              <a:rPr lang="en-US" dirty="0" err="1"/>
              <a:t>Pbi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29F29-4B10-5718-C7A4-DDA650A6530E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1118681" y="2348807"/>
            <a:ext cx="10123988" cy="372375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Customers Dashboard:</a:t>
            </a:r>
          </a:p>
          <a:p>
            <a:r>
              <a:rPr lang="en-US" b="1" dirty="0"/>
              <a:t>KPIs:</a:t>
            </a:r>
            <a:r>
              <a:rPr lang="en-US" dirty="0"/>
              <a:t> 2,000 customers, 49M total orders, 1.83K avg revenue.</a:t>
            </a:r>
          </a:p>
          <a:p>
            <a:r>
              <a:rPr lang="en-US" b="1" dirty="0"/>
              <a:t>By Gender:</a:t>
            </a:r>
            <a:r>
              <a:rPr lang="en-US" dirty="0"/>
              <a:t> Balanced – Male (45M, 49%), Female (46M, 51%).</a:t>
            </a:r>
          </a:p>
          <a:p>
            <a:r>
              <a:rPr lang="en-US" b="1" dirty="0"/>
              <a:t>By Region:</a:t>
            </a:r>
            <a:r>
              <a:rPr lang="en-US" dirty="0"/>
              <a:t> Middle East dominates with ~1,000 customers.</a:t>
            </a:r>
          </a:p>
          <a:p>
            <a:r>
              <a:rPr lang="en-US" b="1" dirty="0"/>
              <a:t>Top Customers:</a:t>
            </a:r>
            <a:r>
              <a:rPr lang="en-US" dirty="0"/>
              <a:t> Same leaders as Excel (David Smith 1.26M).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9AD7B1-5BD0-388B-AC6A-F4F7E8570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6237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213EE-B59C-3FCC-50C4-2405E848F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257C2-D17C-B6CC-849E-413E759EE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430482"/>
            <a:ext cx="10500989" cy="1327464"/>
          </a:xfrm>
        </p:spPr>
        <p:txBody>
          <a:bodyPr/>
          <a:lstStyle/>
          <a:p>
            <a:r>
              <a:rPr lang="en-US" dirty="0" err="1"/>
              <a:t>Pbi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9B12C-9E1B-DAA7-0C9E-EB01878E1B6A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1118681" y="2348807"/>
            <a:ext cx="10123988" cy="372375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Product Dashboard</a:t>
            </a:r>
          </a:p>
          <a:p>
            <a:r>
              <a:rPr lang="en-US" b="1" dirty="0"/>
              <a:t>KPIs:</a:t>
            </a:r>
            <a:r>
              <a:rPr lang="en-US" dirty="0"/>
              <a:t> 80 products, 9 subcategories, 91M profitability.</a:t>
            </a:r>
          </a:p>
          <a:p>
            <a:r>
              <a:rPr lang="en-US" b="1" dirty="0"/>
              <a:t>Top Cities:</a:t>
            </a:r>
            <a:r>
              <a:rPr lang="en-US" dirty="0"/>
              <a:t> Jeddah (8.5M), Chicago (8.2M), Berlin (8M).</a:t>
            </a:r>
          </a:p>
          <a:p>
            <a:r>
              <a:rPr lang="en-US" b="1" dirty="0"/>
              <a:t>By </a:t>
            </a:r>
            <a:r>
              <a:rPr lang="en-US" b="1" dirty="0" err="1"/>
              <a:t>SubCategory</a:t>
            </a:r>
            <a:r>
              <a:rPr lang="en-US" b="1" dirty="0"/>
              <a:t>:</a:t>
            </a:r>
            <a:r>
              <a:rPr lang="en-US" dirty="0"/>
              <a:t> SC03 leads (26M), SC01 lowest (5M).</a:t>
            </a:r>
          </a:p>
          <a:p>
            <a:r>
              <a:rPr lang="en-US" b="1" dirty="0"/>
              <a:t>Cost Analysis:</a:t>
            </a:r>
            <a:r>
              <a:rPr lang="en-US" dirty="0"/>
              <a:t> MacBook Pro has the highest cost (4.7K).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C8DB03-F996-5CBC-7ED2-866C84096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4690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C973F-3CCC-6F5C-3507-A25B0C163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2D183AB1-9983-3804-A1D1-4FAC05BAA2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868" y="2519463"/>
            <a:ext cx="11562303" cy="1887167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07124A-DDEE-D674-1A06-728F5318B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3685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497B8-3602-EA8B-F268-6B4434820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26CD2-AFB7-ABFB-0640-4997CAD7B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656304"/>
          </a:xfrm>
        </p:spPr>
        <p:txBody>
          <a:bodyPr/>
          <a:lstStyle/>
          <a:p>
            <a:r>
              <a:rPr lang="en-US" dirty="0"/>
              <a:t>Summary &amp; Conclusion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5376FB-F696-9C68-3FC1-D26339934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9A92ABE-92AB-4106-6568-16442A6B01D8}"/>
              </a:ext>
            </a:extLst>
          </p:cNvPr>
          <p:cNvSpPr>
            <a:spLocks noGrp="1" noChangeArrowheads="1"/>
          </p:cNvSpPr>
          <p:nvPr>
            <p:ph sz="quarter" idx="31"/>
          </p:nvPr>
        </p:nvSpPr>
        <p:spPr bwMode="auto">
          <a:xfrm>
            <a:off x="2425147" y="2199597"/>
            <a:ext cx="9384231" cy="44268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Excel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provided initial aggregation and validation of data (Top Products, Top Customers, Country/Year comparisons).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Power BI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enhanced the analysis with interactive dashboards, deeper breakdowns (gender, region, city, subcategory), and financial KPIs.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Key Business Insights: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Top revenue products: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MacBook Pro &amp; Dell Inspiron</a:t>
            </a:r>
          </a:p>
          <a:p>
            <a:pPr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Top market: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Saudi Arabia leads slightly ahead of USA</a:t>
            </a:r>
          </a:p>
          <a:p>
            <a:pPr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Customer base: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Balanced across countries, with Middle East strongest</a:t>
            </a:r>
          </a:p>
          <a:p>
            <a:pPr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Growth trend: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Peak sales &amp; quantities in 2024, dip in 2025</a:t>
            </a:r>
          </a:p>
          <a:p>
            <a:pPr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v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Demographics: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Sales almost equally split between male &amp; female customers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93697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DB609-7798-028E-7C8E-4423DD8DB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C990A-4273-0B37-39BD-942D11F38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151499"/>
          </a:xfrm>
        </p:spPr>
        <p:txBody>
          <a:bodyPr/>
          <a:lstStyle/>
          <a:p>
            <a:r>
              <a:rPr lang="en-US" dirty="0"/>
              <a:t>Summary &amp; Conclusion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E0E7A3-2752-1024-191C-BEFE611E7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C9DAF3B-3B3F-AE15-228C-979AD97D98C8}"/>
              </a:ext>
            </a:extLst>
          </p:cNvPr>
          <p:cNvSpPr>
            <a:spLocks noGrp="1" noChangeArrowheads="1"/>
          </p:cNvSpPr>
          <p:nvPr>
            <p:ph sz="quarter" idx="31"/>
          </p:nvPr>
        </p:nvSpPr>
        <p:spPr bwMode="auto">
          <a:xfrm>
            <a:off x="2558374" y="2163644"/>
            <a:ext cx="9192638" cy="3903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Python Conclusion:</a:t>
            </a:r>
          </a:p>
          <a:p>
            <a:pPr marL="685800" lvl="1" indent="-17145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dirty="0"/>
              <a:t>Used for </a:t>
            </a:r>
            <a:r>
              <a:rPr lang="en-US" sz="1800" b="1" dirty="0"/>
              <a:t>data exploration &amp; preprocessing</a:t>
            </a:r>
            <a:r>
              <a:rPr lang="en-US" sz="1800" dirty="0"/>
              <a:t> (date features: Year, Month, Quarter).</a:t>
            </a:r>
          </a:p>
          <a:p>
            <a:pPr marL="685800" lvl="1" indent="-17145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dirty="0"/>
              <a:t>Applied </a:t>
            </a:r>
            <a:r>
              <a:rPr lang="en-US" sz="1800" b="1" dirty="0"/>
              <a:t>feature engineering</a:t>
            </a:r>
            <a:r>
              <a:rPr lang="en-US" sz="1800" dirty="0"/>
              <a:t> (category encoding, aggregations).</a:t>
            </a:r>
          </a:p>
          <a:p>
            <a:pPr marL="685800" lvl="1" indent="-17145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dirty="0"/>
              <a:t>Built </a:t>
            </a:r>
            <a:r>
              <a:rPr lang="en-US" sz="1800" b="1" dirty="0"/>
              <a:t>predictive models</a:t>
            </a:r>
            <a:r>
              <a:rPr lang="en-US" sz="1800" dirty="0"/>
              <a:t> (Regression, Random Forest) to estimate future sales.</a:t>
            </a:r>
          </a:p>
          <a:p>
            <a:pPr marL="685800" lvl="1" indent="-17145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dirty="0"/>
              <a:t>Evaluated models with accuracy scores → showed that </a:t>
            </a:r>
            <a:r>
              <a:rPr lang="en-US" sz="1800" b="1" dirty="0"/>
              <a:t>machine learning can forecast sales trends</a:t>
            </a:r>
            <a:r>
              <a:rPr lang="en-US" sz="1800" dirty="0"/>
              <a:t>.</a:t>
            </a:r>
          </a:p>
          <a:p>
            <a:pPr marL="685800" lvl="1" indent="-17145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sz="1800" dirty="0"/>
              <a:t>Python added </a:t>
            </a:r>
            <a:r>
              <a:rPr lang="en-US" sz="1800" b="1" dirty="0"/>
              <a:t>predictive power and deeper analysis</a:t>
            </a:r>
            <a:r>
              <a:rPr lang="en-US" sz="1800" dirty="0"/>
              <a:t> beyond Excel/Power BI dashboards.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18185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959E7-277E-C746-3C37-A861B5CF2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01678-3497-425B-A286-5E729C3A5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669" y="113097"/>
            <a:ext cx="7420819" cy="1151499"/>
          </a:xfrm>
        </p:spPr>
        <p:txBody>
          <a:bodyPr/>
          <a:lstStyle/>
          <a:p>
            <a:r>
              <a:rPr lang="en-US" dirty="0"/>
              <a:t>Summary &amp; Conclusion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46B5A3-D37A-ADEB-8F98-C533795AF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40971" y="6226198"/>
            <a:ext cx="2743200" cy="365125"/>
          </a:xfrm>
        </p:spPr>
        <p:txBody>
          <a:bodyPr/>
          <a:lstStyle/>
          <a:p>
            <a:fld id="{FE024F78-56A6-7740-B68D-8D4D026EDF3F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7961E02-7374-476F-DF47-9D5AA786FC27}"/>
              </a:ext>
            </a:extLst>
          </p:cNvPr>
          <p:cNvSpPr>
            <a:spLocks noGrp="1" noChangeArrowheads="1"/>
          </p:cNvSpPr>
          <p:nvPr>
            <p:ph sz="quarter" idx="31"/>
          </p:nvPr>
        </p:nvSpPr>
        <p:spPr bwMode="auto">
          <a:xfrm>
            <a:off x="2441643" y="2020576"/>
            <a:ext cx="9309369" cy="4370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SQL Conclusion:</a:t>
            </a:r>
          </a:p>
          <a:p>
            <a:pPr lvl="1" indent="-28575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dirty="0"/>
              <a:t>Designed a </a:t>
            </a:r>
            <a:r>
              <a:rPr lang="en-US" b="1" dirty="0"/>
              <a:t>star schema</a:t>
            </a:r>
            <a:r>
              <a:rPr lang="en-US" dirty="0"/>
              <a:t> (</a:t>
            </a:r>
            <a:r>
              <a:rPr lang="en-US" dirty="0" err="1"/>
              <a:t>Fact_Sales</a:t>
            </a:r>
            <a:r>
              <a:rPr lang="en-US" dirty="0"/>
              <a:t> + Dimension tables: Product, Customer, Date, etc.).</a:t>
            </a:r>
          </a:p>
          <a:p>
            <a:pPr lvl="1" indent="-28575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dirty="0"/>
              <a:t>Applied </a:t>
            </a:r>
            <a:r>
              <a:rPr lang="en-US" b="1" dirty="0"/>
              <a:t>joins</a:t>
            </a:r>
            <a:r>
              <a:rPr lang="en-US" dirty="0"/>
              <a:t> to merge Fact &amp; Dim tables for analysis.</a:t>
            </a:r>
          </a:p>
          <a:p>
            <a:pPr lvl="1" indent="-28575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dirty="0"/>
              <a:t>Ran queries for </a:t>
            </a:r>
            <a:r>
              <a:rPr lang="en-US" b="1" dirty="0"/>
              <a:t>key insights</a:t>
            </a:r>
            <a:r>
              <a:rPr lang="en-US" dirty="0"/>
              <a:t>:</a:t>
            </a: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1100" dirty="0"/>
              <a:t>Profitability by product (Revenue – Cost).</a:t>
            </a: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1100" dirty="0"/>
              <a:t>Top customers &amp; products.</a:t>
            </a: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1100" dirty="0"/>
              <a:t>Demographics (Gender, Region, Age groups).</a:t>
            </a: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1100" dirty="0"/>
              <a:t>Yearly &amp; monthly sales trends.</a:t>
            </a:r>
          </a:p>
          <a:p>
            <a:pPr lvl="1" indent="-28575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dirty="0"/>
              <a:t>Ensured </a:t>
            </a:r>
            <a:r>
              <a:rPr lang="en-US" b="1" dirty="0"/>
              <a:t>data integrity</a:t>
            </a:r>
            <a:r>
              <a:rPr lang="en-US" dirty="0"/>
              <a:t> with keys &amp; constraints → clean &amp; consistent database for analysis.</a:t>
            </a:r>
          </a:p>
          <a:p>
            <a:pPr lvl="1" indent="-28575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en-US" dirty="0"/>
              <a:t>SQL was the </a:t>
            </a:r>
            <a:r>
              <a:rPr lang="en-US" b="1" dirty="0"/>
              <a:t>foundation layer</a:t>
            </a:r>
            <a:r>
              <a:rPr lang="en-US" dirty="0"/>
              <a:t> → structured, cleaned, and prepared the data for Excel, Python, and Power BI.</a:t>
            </a:r>
          </a:p>
        </p:txBody>
      </p:sp>
    </p:spTree>
    <p:extLst>
      <p:ext uri="{BB962C8B-B14F-4D97-AF65-F5344CB8AC3E}">
        <p14:creationId xmlns:p14="http://schemas.microsoft.com/office/powerpoint/2010/main" val="31571381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8000">
              <a:schemeClr val="accent6">
                <a:lumMod val="50000"/>
              </a:schemeClr>
            </a:gs>
            <a:gs pos="35040">
              <a:srgbClr val="020B11"/>
            </a:gs>
            <a:gs pos="11979">
              <a:schemeClr val="accent4">
                <a:lumMod val="50000"/>
              </a:schemeClr>
            </a:gs>
            <a:gs pos="0">
              <a:schemeClr val="accent4"/>
            </a:gs>
            <a:gs pos="99000">
              <a:schemeClr val="tx2">
                <a:lumMod val="50000"/>
              </a:schemeClr>
            </a:gs>
          </a:gsLst>
          <a:lin ang="7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CE1ABEC8-43FD-4F21-A7D2-70200D862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831" y="173735"/>
            <a:ext cx="4409514" cy="2203704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AE5F2E56-9F77-E1C2-EC04-EA959822CA6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850" y="3079119"/>
            <a:ext cx="4413250" cy="2752725"/>
          </a:xfrm>
        </p:spPr>
        <p:txBody>
          <a:bodyPr/>
          <a:lstStyle/>
          <a:p>
            <a:r>
              <a:rPr lang="es-ES" dirty="0"/>
              <a:t>Mohamed </a:t>
            </a:r>
            <a:r>
              <a:rPr lang="es-ES" dirty="0" err="1"/>
              <a:t>Ekramy</a:t>
            </a:r>
            <a:r>
              <a:rPr lang="es-ES" dirty="0"/>
              <a:t> </a:t>
            </a:r>
          </a:p>
          <a:p>
            <a:r>
              <a:rPr lang="en-US" dirty="0"/>
              <a:t>Moataz Gamal</a:t>
            </a:r>
          </a:p>
          <a:p>
            <a:r>
              <a:rPr lang="en-US" dirty="0"/>
              <a:t>Mohamed Afify </a:t>
            </a:r>
          </a:p>
          <a:p>
            <a:r>
              <a:rPr lang="en-US" dirty="0"/>
              <a:t>Yasmin Farag </a:t>
            </a:r>
          </a:p>
          <a:p>
            <a:r>
              <a:rPr lang="en-US" dirty="0"/>
              <a:t>Mohamed Ashraf </a:t>
            </a:r>
          </a:p>
          <a:p>
            <a:r>
              <a:rPr lang="en-US" dirty="0"/>
              <a:t>Zeyad Zakaria</a:t>
            </a:r>
          </a:p>
        </p:txBody>
      </p:sp>
    </p:spTree>
    <p:extLst>
      <p:ext uri="{BB962C8B-B14F-4D97-AF65-F5344CB8AC3E}">
        <p14:creationId xmlns:p14="http://schemas.microsoft.com/office/powerpoint/2010/main" val="239546498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7">
      <a:dk1>
        <a:srgbClr val="000000"/>
      </a:dk1>
      <a:lt1>
        <a:srgbClr val="FFFFFF"/>
      </a:lt1>
      <a:dk2>
        <a:srgbClr val="FC4EFB"/>
      </a:dk2>
      <a:lt2>
        <a:srgbClr val="E7E6E6"/>
      </a:lt2>
      <a:accent1>
        <a:srgbClr val="FAF24C"/>
      </a:accent1>
      <a:accent2>
        <a:srgbClr val="5EFCAC"/>
      </a:accent2>
      <a:accent3>
        <a:srgbClr val="73EBF9"/>
      </a:accent3>
      <a:accent4>
        <a:srgbClr val="316CFC"/>
      </a:accent4>
      <a:accent5>
        <a:srgbClr val="B059FD"/>
      </a:accent5>
      <a:accent6>
        <a:srgbClr val="9405FC"/>
      </a:accent6>
      <a:hlink>
        <a:srgbClr val="FFFFFF"/>
      </a:hlink>
      <a:folHlink>
        <a:srgbClr val="FFFFFF"/>
      </a:folHlink>
    </a:clrScheme>
    <a:fontScheme name="Custom 15">
      <a:majorFont>
        <a:latin typeface="Biome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936837_win32_SL_V11" id="{EAD6EF7B-6F25-4469-AF6A-07D6EB1461DD}" vid="{30FEA78B-2F89-4FF0-8415-E3920802C58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305301E-11B3-4B9D-A588-21F3C980937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77B561B-3A65-4A22-9691-EB838E7F9B8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4137456-21FC-4AE2-8A94-BF06CAF2EB9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{63AC946A-7A2C-497B-9FDA-EE78ABCFEB90}TFe8699e8e-689b-4d7e-abcf-e888fd749829db3118dc_win32-d573b439b56f</Template>
  <TotalTime>102</TotalTime>
  <Words>1011</Words>
  <Application>Microsoft Office PowerPoint</Application>
  <PresentationFormat>Widescreen</PresentationFormat>
  <Paragraphs>186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Arial</vt:lpstr>
      <vt:lpstr>Arial Nova</vt:lpstr>
      <vt:lpstr>Biome</vt:lpstr>
      <vt:lpstr>Calibri</vt:lpstr>
      <vt:lpstr>Wingdings</vt:lpstr>
      <vt:lpstr>Custom</vt:lpstr>
      <vt:lpstr>Sdcr3  Final Project</vt:lpstr>
      <vt:lpstr>Agenda</vt:lpstr>
      <vt:lpstr>PowerPoint Presentation</vt:lpstr>
      <vt:lpstr>Introduction , goal and objective</vt:lpstr>
      <vt:lpstr>PowerPoint Presentation</vt:lpstr>
      <vt:lpstr>Tools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Excel (Pivot + Charts)</vt:lpstr>
      <vt:lpstr>Power BI – Sales Dashboard</vt:lpstr>
      <vt:lpstr>Power BI – Customers Dashboard</vt:lpstr>
      <vt:lpstr>Power BI – Product Dashboard</vt:lpstr>
      <vt:lpstr>PowerPoint Presentation</vt:lpstr>
      <vt:lpstr>excel</vt:lpstr>
      <vt:lpstr>Pbi</vt:lpstr>
      <vt:lpstr>Pbi</vt:lpstr>
      <vt:lpstr>Pbi</vt:lpstr>
      <vt:lpstr>PowerPoint Presentation</vt:lpstr>
      <vt:lpstr>Summary &amp; Conclusion</vt:lpstr>
      <vt:lpstr>Summary &amp; Conclusion</vt:lpstr>
      <vt:lpstr>Summary &amp; 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mohamedashrafdesoki@gmail.com</dc:creator>
  <cp:lastModifiedBy>mohamedashrafdesoki@gmail.com</cp:lastModifiedBy>
  <cp:revision>16</cp:revision>
  <dcterms:created xsi:type="dcterms:W3CDTF">2025-09-25T11:38:51Z</dcterms:created>
  <dcterms:modified xsi:type="dcterms:W3CDTF">2025-09-25T14:37:19Z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